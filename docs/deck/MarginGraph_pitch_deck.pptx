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cb24599-d528-d788-aeb1-57ca03d49e7c}">
          <p14:sldIdLst>
            <p14:sldId id="256"/>
          </p14:sldIdLst>
        </p14:section>
        <p14:section name="Problem and solution" id="{7311c16a-334c-4e06-28e3-0541ff4efe22}">
          <p14:sldIdLst>
            <p14:sldId id="257"/>
            <p14:sldId id="258"/>
          </p14:sldIdLst>
        </p14:section>
        <p14:section name="Results" id="{33d7c1a8-31de-8fc5-1614-43ca34e34255}">
          <p14:sldIdLst>
            <p14:sldId id="259"/>
            <p14:sldId id="260"/>
            <p14:sldId id="261"/>
            <p14:sldId id="262"/>
            <p14:sldId id="263"/>
            <p14:sldId id="264"/>
            <p14:sldId id="265"/>
            <p14:sldId id="266"/>
          </p14:sldIdLst>
        </p14:section>
        <p14:section name="Product" id="{d149503d-acae-95aa-fac8-0617cd5f703b}">
          <p14:sldIdLst>
            <p14:sldId id="267"/>
          </p14:sldIdLst>
        </p14:section>
        <p14:section name="Close" id="{5d43c957-ae67-b413-14a4-8f43b86fecd0}">
          <p14:sldIdLst>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Hit@10 (%)</c:v>
                </c:pt>
              </c:strCache>
            </c:strRef>
          </c:tx>
          <c:spPr>
            <a:solidFill>
              <a:srgbClr val="A9C7B8"/>
            </a:solidFill>
            <a:effectLst/>
          </c:spPr>
          <c:invertIfNegative val="0"/>
          <c:dLbls>
            <c:numFmt formatCode="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dPt>
            <c:idx val="0"/>
            <c:invertIfNegative val="0"/>
            <c:bubble3D val="0"/>
            <c:spPr>
              <a:solidFill>
                <a:srgbClr val="A9C7B8"/>
              </a:solidFill>
              <a:effectLst/>
            </c:spPr>
          </c:dPt>
          <c:dPt>
            <c:idx val="1"/>
            <c:invertIfNegative val="0"/>
            <c:bubble3D val="0"/>
            <c:spPr>
              <a:solidFill>
                <a:srgbClr val="A9C7B8"/>
              </a:solidFill>
              <a:effectLst/>
            </c:spPr>
          </c:dPt>
          <c:dPt>
            <c:idx val="2"/>
            <c:invertIfNegative val="0"/>
            <c:bubble3D val="0"/>
            <c:spPr>
              <a:solidFill>
                <a:srgbClr val="A9C7B8"/>
              </a:solidFill>
              <a:effectLst/>
            </c:spPr>
          </c:dPt>
          <c:dPt>
            <c:idx val="3"/>
            <c:invertIfNegative val="0"/>
            <c:bubble3D val="0"/>
            <c:spPr>
              <a:solidFill>
                <a:srgbClr val="A9C7B8"/>
              </a:solidFill>
              <a:effectLst/>
            </c:spPr>
          </c:dPt>
          <c:dPt>
            <c:idx val="4"/>
            <c:invertIfNegative val="0"/>
            <c:bubble3D val="0"/>
            <c:spPr>
              <a:solidFill>
                <a:srgbClr val="A9C7B8"/>
              </a:solidFill>
              <a:effectLst/>
            </c:spPr>
          </c:dPt>
          <c:dPt>
            <c:idx val="5"/>
            <c:invertIfNegative val="0"/>
            <c:bubble3D val="0"/>
            <c:spPr>
              <a:solidFill>
                <a:srgbClr val="7FB89E"/>
              </a:solidFill>
              <a:effectLst/>
            </c:spPr>
          </c:dPt>
          <c:dPt>
            <c:idx val="6"/>
            <c:invertIfNegative val="0"/>
            <c:bubble3D val="0"/>
            <c:spPr>
              <a:solidFill>
                <a:srgbClr val="1F6F54"/>
              </a:solidFill>
              <a:effectLst/>
            </c:spPr>
          </c:dPt>
          <c:cat>
            <c:multiLvlStrRef>
              <c:f>Sheet1!$A$2:$A$8</c:f>
              <c:multiLvlStrCache>
                <c:ptCount val="7"/>
                <c:lvl>
                  <c:pt idx="0">
                    <c:v>Popularity</c:v>
                  </c:pt>
                  <c:pt idx="1">
                    <c:v>Co-purchase</c:v>
                  </c:pt>
                  <c:pt idx="2">
                    <c:v>Repeat purchase</c:v>
                  </c:pt>
                  <c:pt idx="3">
                    <c:v>ALS</c:v>
                  </c:pt>
                  <c:pt idx="4">
                    <c:v>ItemKNN</c:v>
                  </c:pt>
                  <c:pt idx="5">
                    <c:v>EASE</c:v>
                  </c:pt>
                  <c:pt idx="6">
                    <c:v>MarginGraph ranker</c:v>
                  </c:pt>
                </c:lvl>
              </c:multiLvlStrCache>
            </c:multiLvlStrRef>
          </c:cat>
          <c:val>
            <c:numRef>
              <c:f>Sheet1!$B$2:$B$8</c:f>
              <c:numCache>
                <c:formatCode>General</c:formatCode>
                <c:ptCount val="7"/>
                <c:pt idx="0">
                  <c:v>3.1</c:v>
                </c:pt>
                <c:pt idx="1">
                  <c:v>13</c:v>
                </c:pt>
                <c:pt idx="2">
                  <c:v>13.4</c:v>
                </c:pt>
                <c:pt idx="3">
                  <c:v>17.3</c:v>
                </c:pt>
                <c:pt idx="4">
                  <c:v>22.7</c:v>
                </c:pt>
                <c:pt idx="5">
                  <c:v>31.1</c:v>
                </c:pt>
                <c:pt idx="6">
                  <c:v>38.1</c:v>
                </c:pt>
              </c:numCache>
            </c:numRef>
          </c:val>
        </c:ser>
        <c:dLbls>
          <c:numFmt formatCode="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5B6B65"/>
                </a:solidFill>
                <a:latin typeface="+mn-lt"/>
              </a:defRPr>
            </a:pPr>
            <a:endParaRPr lang="en-US"/>
          </a:p>
        </c:txPr>
        <c:crossAx val="2094734552"/>
        <c:crosses val="autoZero"/>
        <c:auto val="1"/>
        <c:lblAlgn val="ctr"/>
        <c:noMultiLvlLbl val="1"/>
      </c:catAx>
      <c:valAx>
        <c:axId val="2094734552"/>
        <c:scaling>
          <c:orientation val="minMax"/>
          <c:max val="4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Gain</c:v>
                </c:pt>
              </c:strCache>
            </c:strRef>
          </c:tx>
          <c:spPr>
            <a:solidFill>
              <a:srgbClr val="1F6F54"/>
            </a:solidFill>
            <a:effectLst/>
          </c:spPr>
          <c:invertIfNegative val="0"/>
          <c:dLbls>
            <c:numFmt formatCode="+0.0;-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dPt>
            <c:idx val="0"/>
            <c:invertIfNegative val="0"/>
            <c:bubble3D val="0"/>
            <c:spPr>
              <a:solidFill>
                <a:srgbClr val="1F6F54"/>
              </a:solidFill>
              <a:effectLst/>
            </c:spPr>
          </c:dPt>
          <c:dPt>
            <c:idx val="1"/>
            <c:invertIfNegative val="0"/>
            <c:bubble3D val="0"/>
            <c:spPr>
              <a:solidFill>
                <a:srgbClr val="1F6F54"/>
              </a:solidFill>
              <a:effectLst/>
            </c:spPr>
          </c:dPt>
          <c:dPt>
            <c:idx val="2"/>
            <c:invertIfNegative val="0"/>
            <c:bubble3D val="0"/>
            <c:spPr>
              <a:solidFill>
                <a:srgbClr val="1F6F54"/>
              </a:solidFill>
              <a:effectLst/>
            </c:spPr>
          </c:dPt>
          <c:dPt>
            <c:idx val="3"/>
            <c:invertIfNegative val="0"/>
            <c:bubble3D val="0"/>
            <c:spPr>
              <a:solidFill>
                <a:srgbClr val="C8553D"/>
              </a:solidFill>
              <a:effectLst/>
            </c:spPr>
          </c:dPt>
          <c:dPt>
            <c:idx val="4"/>
            <c:invertIfNegative val="0"/>
            <c:bubble3D val="0"/>
            <c:spPr>
              <a:solidFill>
                <a:srgbClr val="A9C7B8"/>
              </a:solidFill>
              <a:effectLst/>
            </c:spPr>
          </c:dPt>
          <c:cat>
            <c:multiLvlStrRef>
              <c:f>Sheet1!$A$2:$A$6</c:f>
              <c:multiLvlStrCache>
                <c:ptCount val="5"/>
                <c:lvl>
                  <c:pt idx="0">
                    <c:v>UK gifts (UCI)</c:v>
                  </c:pt>
                  <c:pt idx="1">
                    <c:v>Taiwan grocery (Ta Feng)</c:v>
                  </c:pt>
                  <c:pt idx="2">
                    <c:v>US supermarket (Dunnhumby)</c:v>
                  </c:pt>
                  <c:pt idx="3">
                    <c:v>US grocery app (Instacart)</c:v>
                  </c:pt>
                  <c:pt idx="4">
                    <c:v>Brazil marketplace (Olist)</c:v>
                  </c:pt>
                </c:lvl>
              </c:multiLvlStrCache>
            </c:multiLvlStrRef>
          </c:cat>
          <c:val>
            <c:numRef>
              <c:f>Sheet1!$B$2:$B$6</c:f>
              <c:numCache>
                <c:formatCode>General</c:formatCode>
                <c:ptCount val="5"/>
                <c:pt idx="0">
                  <c:v>7</c:v>
                </c:pt>
                <c:pt idx="1">
                  <c:v>8.3</c:v>
                </c:pt>
                <c:pt idx="2">
                  <c:v>7.8</c:v>
                </c:pt>
                <c:pt idx="3">
                  <c:v>-3</c:v>
                </c:pt>
                <c:pt idx="4">
                  <c:v>3.6</c:v>
                </c:pt>
              </c:numCache>
            </c:numRef>
          </c:val>
        </c:ser>
        <c:dLbls>
          <c:numFmt formatCode="+0.0;-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65"/>
                </a:solidFill>
                <a:latin typeface="+mn-lt"/>
              </a:defRPr>
            </a:pPr>
            <a:endParaRPr lang="en-US"/>
          </a:p>
        </c:txPr>
        <c:crossAx val="2094734552"/>
        <c:crosses val="autoZero"/>
        <c:auto val="1"/>
        <c:lblAlgn val="ctr"/>
        <c:noMultiLvlLbl val="1"/>
      </c:catAx>
      <c:valAx>
        <c:axId val="2094734552"/>
        <c:scaling>
          <c:orientation val="minMax"/>
          <c:max val="10"/>
          <c:min val="-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Profit gain (%)</c:v>
                </c:pt>
              </c:strCache>
            </c:strRef>
          </c:tx>
          <c:spPr>
            <a:solidFill>
              <a:srgbClr val="1F6F54"/>
            </a:solidFill>
            <a:effectLst/>
          </c:spPr>
          <c:invertIfNegative val="0"/>
          <c:dLbls>
            <c:numFmt formatCode="+0&quot;%&quot;"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dPt>
            <c:idx val="0"/>
            <c:invertIfNegative val="0"/>
            <c:bubble3D val="0"/>
            <c:spPr>
              <a:solidFill>
                <a:srgbClr val="1F6F54"/>
              </a:solidFill>
              <a:effectLst/>
            </c:spPr>
          </c:dPt>
          <c:dPt>
            <c:idx val="1"/>
            <c:invertIfNegative val="0"/>
            <c:bubble3D val="0"/>
            <c:spPr>
              <a:solidFill>
                <a:srgbClr val="1F6F54"/>
              </a:solidFill>
              <a:effectLst/>
            </c:spPr>
          </c:dPt>
          <c:dPt>
            <c:idx val="2"/>
            <c:invertIfNegative val="0"/>
            <c:bubble3D val="0"/>
            <c:spPr>
              <a:solidFill>
                <a:srgbClr val="1F6F54"/>
              </a:solidFill>
              <a:effectLst/>
            </c:spPr>
          </c:dPt>
          <c:cat>
            <c:multiLvlStrRef>
              <c:f>Sheet1!$A$2:$A$4</c:f>
              <c:multiLvlStrCache>
                <c:ptCount val="3"/>
                <c:lvl>
                  <c:pt idx="0">
                    <c:v>UK gifts</c:v>
                  </c:pt>
                  <c:pt idx="1">
                    <c:v>Taiwan grocery</c:v>
                  </c:pt>
                  <c:pt idx="2">
                    <c:v>US supermarket</c:v>
                  </c:pt>
                </c:lvl>
              </c:multiLvlStrCache>
            </c:multiLvlStrRef>
          </c:cat>
          <c:val>
            <c:numRef>
              <c:f>Sheet1!$B$2:$B$4</c:f>
              <c:numCache>
                <c:formatCode>General</c:formatCode>
                <c:ptCount val="3"/>
                <c:pt idx="0">
                  <c:v>14</c:v>
                </c:pt>
                <c:pt idx="1">
                  <c:v>17</c:v>
                </c:pt>
                <c:pt idx="2">
                  <c:v>13</c:v>
                </c:pt>
              </c:numCache>
            </c:numRef>
          </c:val>
        </c:ser>
        <c:dLbls>
          <c:numFmt formatCode="+0&quot;%&quot;"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65"/>
                </a:solidFill>
                <a:latin typeface="+mn-lt"/>
              </a:defRPr>
            </a:pPr>
            <a:endParaRPr lang="en-US"/>
          </a:p>
        </c:txPr>
        <c:crossAx val="2094734552"/>
        <c:crosses val="autoZero"/>
        <c:auto val="1"/>
        <c:lblAlgn val="ctr"/>
        <c:noMultiLvlLbl val="1"/>
      </c:catAx>
      <c:valAx>
        <c:axId val="2094734552"/>
        <c:scaling>
          <c:orientation val="minMax"/>
          <c:max val="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MarginGraph</c:v>
                </c:pt>
              </c:strCache>
            </c:strRef>
          </c:tx>
          <c:spPr>
            <a:solidFill>
              <a:srgbClr val="1F6F54"/>
            </a:solidFill>
            <a:ln w="38100" cap="flat">
              <a:solidFill>
                <a:srgbClr val="1F6F5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F6F54"/>
              </a:solidFill>
              <a:ln w="9525" cap="flat">
                <a:solidFill>
                  <a:srgbClr val="1F6F54"/>
                </a:solidFill>
                <a:prstDash val="solid"/>
                <a:round/>
              </a:ln>
              <a:effectLst/>
            </c:spPr>
          </c:marker>
          <c:cat>
            <c:numRef>
              <c:f>Sheet1!$A$2:$A$31</c:f>
              <c:numCache>
                <c:formatCode>0</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Sheet1!$B$2:$B$31</c:f>
              <c:numCache>
                <c:formatCode>General</c:formatCode>
                <c:ptCount val="30"/>
                <c:pt idx="0">
                  <c:v>24</c:v>
                </c:pt>
                <c:pt idx="1">
                  <c:v>61</c:v>
                </c:pt>
                <c:pt idx="2">
                  <c:v>106</c:v>
                </c:pt>
                <c:pt idx="3">
                  <c:v>158</c:v>
                </c:pt>
                <c:pt idx="4">
                  <c:v>204</c:v>
                </c:pt>
                <c:pt idx="5">
                  <c:v>231</c:v>
                </c:pt>
                <c:pt idx="6">
                  <c:v>290</c:v>
                </c:pt>
                <c:pt idx="7">
                  <c:v>328</c:v>
                </c:pt>
                <c:pt idx="8">
                  <c:v>353</c:v>
                </c:pt>
                <c:pt idx="9">
                  <c:v>403</c:v>
                </c:pt>
                <c:pt idx="10">
                  <c:v>434</c:v>
                </c:pt>
                <c:pt idx="11">
                  <c:v>501</c:v>
                </c:pt>
                <c:pt idx="12">
                  <c:v>546</c:v>
                </c:pt>
                <c:pt idx="13">
                  <c:v>564</c:v>
                </c:pt>
                <c:pt idx="14">
                  <c:v>602</c:v>
                </c:pt>
                <c:pt idx="15">
                  <c:v>629</c:v>
                </c:pt>
                <c:pt idx="16">
                  <c:v>662</c:v>
                </c:pt>
                <c:pt idx="17">
                  <c:v>679</c:v>
                </c:pt>
                <c:pt idx="18">
                  <c:v>728</c:v>
                </c:pt>
                <c:pt idx="19">
                  <c:v>791</c:v>
                </c:pt>
                <c:pt idx="20">
                  <c:v>838</c:v>
                </c:pt>
                <c:pt idx="21">
                  <c:v>868</c:v>
                </c:pt>
                <c:pt idx="22">
                  <c:v>900</c:v>
                </c:pt>
                <c:pt idx="23">
                  <c:v>923</c:v>
                </c:pt>
                <c:pt idx="24">
                  <c:v>963</c:v>
                </c:pt>
                <c:pt idx="25">
                  <c:v>993</c:v>
                </c:pt>
                <c:pt idx="26">
                  <c:v>1054</c:v>
                </c:pt>
                <c:pt idx="27">
                  <c:v>1092</c:v>
                </c:pt>
                <c:pt idx="28">
                  <c:v>1120</c:v>
                </c:pt>
                <c:pt idx="29">
                  <c:v>1141</c:v>
                </c:pt>
              </c:numCache>
            </c:numRef>
          </c:val>
          <c:smooth val="0"/>
        </c:ser>
        <c:ser>
          <c:idx val="1"/>
          <c:order val="1"/>
          <c:tx>
            <c:strRef>
              <c:f>Sheet1!$C$1</c:f>
              <c:strCache>
                <c:ptCount val="1"/>
                <c:pt idx="0">
                  <c:v>Ranker alone</c:v>
                </c:pt>
              </c:strCache>
            </c:strRef>
          </c:tx>
          <c:spPr>
            <a:solidFill>
              <a:srgbClr val="A9C7B8"/>
            </a:solidFill>
            <a:ln w="38100" cap="flat">
              <a:solidFill>
                <a:srgbClr val="A9C7B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A9C7B8"/>
              </a:solidFill>
              <a:ln w="9525" cap="flat">
                <a:solidFill>
                  <a:srgbClr val="A9C7B8"/>
                </a:solidFill>
                <a:prstDash val="solid"/>
                <a:round/>
              </a:ln>
              <a:effectLst/>
            </c:spPr>
          </c:marker>
          <c:cat>
            <c:numRef>
              <c:f>Sheet1!$A$2:$A$31</c:f>
              <c:numCache>
                <c:formatCode>0</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Sheet1!$C$2:$C$31</c:f>
              <c:numCache>
                <c:formatCode>General</c:formatCode>
                <c:ptCount val="30"/>
                <c:pt idx="0">
                  <c:v>22</c:v>
                </c:pt>
                <c:pt idx="1">
                  <c:v>54</c:v>
                </c:pt>
                <c:pt idx="2">
                  <c:v>86</c:v>
                </c:pt>
                <c:pt idx="3">
                  <c:v>121</c:v>
                </c:pt>
                <c:pt idx="4">
                  <c:v>163</c:v>
                </c:pt>
                <c:pt idx="5">
                  <c:v>192</c:v>
                </c:pt>
                <c:pt idx="6">
                  <c:v>234</c:v>
                </c:pt>
                <c:pt idx="7">
                  <c:v>262</c:v>
                </c:pt>
                <c:pt idx="8">
                  <c:v>285</c:v>
                </c:pt>
                <c:pt idx="9">
                  <c:v>321</c:v>
                </c:pt>
                <c:pt idx="10">
                  <c:v>353</c:v>
                </c:pt>
                <c:pt idx="11">
                  <c:v>376</c:v>
                </c:pt>
                <c:pt idx="12">
                  <c:v>413</c:v>
                </c:pt>
                <c:pt idx="13">
                  <c:v>445</c:v>
                </c:pt>
                <c:pt idx="14">
                  <c:v>475</c:v>
                </c:pt>
                <c:pt idx="15">
                  <c:v>508</c:v>
                </c:pt>
                <c:pt idx="16">
                  <c:v>535</c:v>
                </c:pt>
                <c:pt idx="17">
                  <c:v>554</c:v>
                </c:pt>
                <c:pt idx="18">
                  <c:v>590</c:v>
                </c:pt>
                <c:pt idx="19">
                  <c:v>635</c:v>
                </c:pt>
                <c:pt idx="20">
                  <c:v>668</c:v>
                </c:pt>
                <c:pt idx="21">
                  <c:v>690</c:v>
                </c:pt>
                <c:pt idx="22">
                  <c:v>716</c:v>
                </c:pt>
                <c:pt idx="23">
                  <c:v>742</c:v>
                </c:pt>
                <c:pt idx="24">
                  <c:v>776</c:v>
                </c:pt>
                <c:pt idx="25">
                  <c:v>804</c:v>
                </c:pt>
                <c:pt idx="26">
                  <c:v>839</c:v>
                </c:pt>
                <c:pt idx="27">
                  <c:v>867</c:v>
                </c:pt>
                <c:pt idx="28">
                  <c:v>890</c:v>
                </c:pt>
                <c:pt idx="29">
                  <c:v>920</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dateAx>
        <c:axId val="2094734554"/>
        <c:scaling>
          <c:orientation val="minMax"/>
        </c:scaling>
        <c:delete val="0"/>
        <c:axPos val="b"/>
        <c:numFmt formatCode="0"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65"/>
                </a:solidFill>
                <a:latin typeface="+mn-lt"/>
              </a:defRPr>
            </a:pPr>
            <a:endParaRPr lang="en-US"/>
          </a:p>
        </c:txPr>
        <c:crossAx val="2094734552"/>
        <c:crosses val="autoZero"/>
        <c:auto val="1"/>
        <c:lblAlgn val="ctr"/>
        <c:noMultiLvlLbl val="1"/>
      </c:dateAx>
      <c:valAx>
        <c:axId val="2094734552"/>
        <c:scaling>
          <c:orientation val="minMax"/>
        </c:scaling>
        <c:delete val="0"/>
        <c:axPos val="l"/>
        <c:majorGridlines>
          <c:spPr>
            <a:ln w="9525" cap="flat">
              <a:solidFill>
                <a:srgbClr val="DDE7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65"/>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solidFill>
                <a:srgbClr val="5B6B6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Hit@2</c:v>
                </c:pt>
              </c:strCache>
            </c:strRef>
          </c:tx>
          <c:spPr>
            <a:solidFill>
              <a:srgbClr val="A9C7B8"/>
            </a:solidFill>
            <a:effectLst/>
          </c:spPr>
          <c:invertIfNegative val="0"/>
          <c:dLbls>
            <c:numFmt formatCode="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dPt>
            <c:idx val="0"/>
            <c:invertIfNegative val="0"/>
            <c:bubble3D val="0"/>
            <c:spPr>
              <a:solidFill>
                <a:srgbClr val="A9C7B8"/>
              </a:solidFill>
              <a:effectLst/>
            </c:spPr>
          </c:dPt>
          <c:dPt>
            <c:idx val="1"/>
            <c:invertIfNegative val="0"/>
            <c:bubble3D val="0"/>
            <c:spPr>
              <a:solidFill>
                <a:srgbClr val="C8553D"/>
              </a:solidFill>
              <a:effectLst/>
            </c:spPr>
          </c:dPt>
          <c:dPt>
            <c:idx val="2"/>
            <c:invertIfNegative val="0"/>
            <c:bubble3D val="0"/>
            <c:spPr>
              <a:solidFill>
                <a:srgbClr val="1F6F54"/>
              </a:solidFill>
              <a:effectLst/>
            </c:spPr>
          </c:dPt>
          <c:cat>
            <c:multiLvlStrRef>
              <c:f>Sheet1!$A$2:$A$4</c:f>
              <c:multiLvlStrCache>
                <c:ptCount val="3"/>
                <c:lvl>
                  <c:pt idx="0">
                    <c:v>Ranker top 2</c:v>
                  </c:pt>
                  <c:pt idx="1">
                    <c:v>15% item floor</c:v>
                  </c:pt>
                  <c:pt idx="2">
                    <c:v>15% bundle floor</c:v>
                  </c:pt>
                </c:lvl>
              </c:multiLvlStrCache>
            </c:multiLvlStrRef>
          </c:cat>
          <c:val>
            <c:numRef>
              <c:f>Sheet1!$B$2:$B$4</c:f>
              <c:numCache>
                <c:formatCode>General</c:formatCode>
                <c:ptCount val="3"/>
                <c:pt idx="0">
                  <c:v>10.1</c:v>
                </c:pt>
                <c:pt idx="1">
                  <c:v>5.2</c:v>
                </c:pt>
                <c:pt idx="2">
                  <c:v>5.8</c:v>
                </c:pt>
              </c:numCache>
            </c:numRef>
          </c:val>
        </c:ser>
        <c:dLbls>
          <c:numFmt formatCode="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65"/>
                </a:solidFill>
                <a:latin typeface="+mn-lt"/>
              </a:defRPr>
            </a:pPr>
            <a:endParaRPr lang="en-US"/>
          </a:p>
        </c:txPr>
        <c:crossAx val="2094734552"/>
        <c:crosses val="autoZero"/>
        <c:auto val="1"/>
        <c:lblAlgn val="ctr"/>
        <c:noMultiLvlLbl val="1"/>
      </c:catAx>
      <c:valAx>
        <c:axId val="2094734552"/>
        <c:scaling>
          <c:orientation val="minMax"/>
          <c:max val="1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Hit@5</c:v>
                </c:pt>
              </c:strCache>
            </c:strRef>
          </c:tx>
          <c:spPr>
            <a:solidFill>
              <a:srgbClr val="C8553D"/>
            </a:solidFill>
            <a:effectLst/>
          </c:spPr>
          <c:invertIfNegative val="0"/>
          <c:dLbls>
            <c:numFmt formatCode="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A9C7B8"/>
              </a:solidFill>
              <a:effectLst/>
            </c:spPr>
          </c:dPt>
          <c:dPt>
            <c:idx val="2"/>
            <c:invertIfNegative val="0"/>
            <c:bubble3D val="0"/>
            <c:spPr>
              <a:solidFill>
                <a:srgbClr val="A9C7B8"/>
              </a:solidFill>
              <a:effectLst/>
            </c:spPr>
          </c:dPt>
          <c:dPt>
            <c:idx val="3"/>
            <c:invertIfNegative val="0"/>
            <c:bubble3D val="0"/>
            <c:spPr>
              <a:solidFill>
                <a:srgbClr val="A9C7B8"/>
              </a:solidFill>
              <a:effectLst/>
            </c:spPr>
          </c:dPt>
          <c:dPt>
            <c:idx val="4"/>
            <c:invertIfNegative val="0"/>
            <c:bubble3D val="0"/>
            <c:spPr>
              <a:solidFill>
                <a:srgbClr val="A9C7B8"/>
              </a:solidFill>
              <a:effectLst/>
            </c:spPr>
          </c:dPt>
          <c:dPt>
            <c:idx val="5"/>
            <c:invertIfNegative val="0"/>
            <c:bubble3D val="0"/>
            <c:spPr>
              <a:solidFill>
                <a:srgbClr val="7FB89E"/>
              </a:solidFill>
              <a:effectLst/>
            </c:spPr>
          </c:dPt>
          <c:dPt>
            <c:idx val="6"/>
            <c:invertIfNegative val="0"/>
            <c:bubble3D val="0"/>
            <c:spPr>
              <a:solidFill>
                <a:srgbClr val="1F6F54"/>
              </a:solidFill>
              <a:effectLst/>
            </c:spPr>
          </c:dPt>
          <c:cat>
            <c:multiLvlStrRef>
              <c:f>Sheet1!$A$2:$A$8</c:f>
              <c:multiLvlStrCache>
                <c:ptCount val="7"/>
                <c:lvl>
                  <c:pt idx="0">
                    <c:v>LoRA fine-tuned 1.5B</c:v>
                  </c:pt>
                  <c:pt idx="1">
                    <c:v>Random order</c:v>
                  </c:pt>
                  <c:pt idx="2">
                    <c:v>Qwen2.5-3B zero-shot</c:v>
                  </c:pt>
                  <c:pt idx="3">
                    <c:v>Qwen2.5-1.5B zero-shot</c:v>
                  </c:pt>
                  <c:pt idx="4">
                    <c:v>1.5B blended with LightGBM</c:v>
                  </c:pt>
                  <c:pt idx="5">
                    <c:v>LightGBM + 3B stacker</c:v>
                  </c:pt>
                  <c:pt idx="6">
                    <c:v>LightGBM</c:v>
                  </c:pt>
                </c:lvl>
              </c:multiLvlStrCache>
            </c:multiLvlStrRef>
          </c:cat>
          <c:val>
            <c:numRef>
              <c:f>Sheet1!$B$2:$B$8</c:f>
              <c:numCache>
                <c:formatCode>General</c:formatCode>
                <c:ptCount val="7"/>
                <c:pt idx="0">
                  <c:v>7.8</c:v>
                </c:pt>
                <c:pt idx="1">
                  <c:v>11.6</c:v>
                </c:pt>
                <c:pt idx="2">
                  <c:v>16.6</c:v>
                </c:pt>
                <c:pt idx="3">
                  <c:v>16.8</c:v>
                </c:pt>
                <c:pt idx="4">
                  <c:v>23.2</c:v>
                </c:pt>
                <c:pt idx="5">
                  <c:v>27.5</c:v>
                </c:pt>
                <c:pt idx="6">
                  <c:v>27.6</c:v>
                </c:pt>
              </c:numCache>
            </c:numRef>
          </c:val>
        </c:ser>
        <c:dLbls>
          <c:numFmt formatCode="0.0" sourceLinked="0"/>
          <c:txPr>
            <a:bodyPr/>
            <a:lstStyle/>
            <a:p>
              <a:pPr>
                <a:defRPr b="0" i="0" strike="noStrike" sz="1300" u="none">
                  <a:solidFill>
                    <a:srgbClr val="1A1F1C"/>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5B6B65"/>
                </a:solidFill>
                <a:latin typeface="+mn-lt"/>
              </a:defRPr>
            </a:pPr>
            <a:endParaRPr lang="en-US"/>
          </a:p>
        </c:txPr>
        <c:crossAx val="2094734552"/>
        <c:crosses val="autoZero"/>
        <c:auto val="1"/>
        <c:lblAlgn val="ctr"/>
        <c:noMultiLvlLbl val="1"/>
      </c:catAx>
      <c:valAx>
        <c:axId val="2094734552"/>
        <c:scaling>
          <c:orientation val="minMax"/>
          <c:max val="32"/>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MarginGraph picks up to two add-on products at checkout: items the shopper is likely to buy that also earn the store money, never below a 15% margin. Everything in this deck is measured on public store data. Where cost or stock is simulated, the slide says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recommenders are built to maximise clicks. That pushes cheap popular items, ignores margin, and does nothing about overstock. The store pays for it in profit.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part does what it is good at. The ranker never sees money; the optimizer never guesses relevance. Business rules are plain code, so they hold even if a model is wrong. The objective is expected relevance blended with expected profit, under a 15% margin floor, at most two add-ons and stock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headline numbers. The relevance gains are measured on real baskets. The profit numbers use simulated unit cost and stock because none of the public datasets has verified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4,480 real test baskets the LightGBM ranker puts the hidden item in its top 10 38.1% of the time, against 31.1% for EASE, the strongest standard method. The 7-point gain has a confidence interval well above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code, same settings, four new datasets. LightGBM wins on Ta Feng by 8.3 points and on Dunnhumby by 7.8, both with tight intervals. Olist has only 169 usable baskets, so it is a tie. Instacart is a real loss, and the official result stays a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ranker cannot rank what never reaches the shortlist. On Instacart the shortlist was filled by general models before the customer's own past items. Moving past purchases first raised shortlist recall from 51.7% to 70.1%, and the loss became a 4.1-point win, CI 3.7 to 4.5. We still report the loss as the official result because the rule was set before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same simulated cost model on each store, the optimizer adds 13 to 17 percent gross profit per basket for about one point of hit rate. On UCI the gain stayed positive in all nine cost scenarios we tried.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replayed 30 days of real UK checkouts through a simulated store with stock and weekly restock. MarginGraph earned 1,141 pounds of add-on profit against 920 for the ranker alone. Shoppers took slightly fewer add-ons, 7.5% against 8.9%, but each earned more. The ranker would have offered 164 items below the margin floor; MarginGraph offered none. An overstock weight of 2 clears as much overstock as the ranker and keeps a 19% 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first look at something like real grocery margins. With a fixed 15% item floor the optimizer still earns 25% more per basket, but it can no longer offer many of the items shoppers buy, so the hit rate halves. A bundle-level floor recovers some hits and gives the biggest profit gain. The floor should be a store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idea was LLM personalisation. We tested it properly: two model sizes, blends, a stacker and a LoRA fine-tune. None beat LightGBM; the fine-tune was worse than a random order. So the LLM is used only for cold-start products and explanations.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runs on a free Hugging Face Space. A shop can try the demo store, upload its own order history, or call the API. LightGBM and the optimizer both run on one CPU, so serving can stay on free tiers.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here. It builds trust: the relevance result is real on four stores; the profit result rests on simulated cost and stock that only a real store can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concrete ask: a few small online stores for a free pilot. They share real cost and stock; we give them the system and an honest A/B test case study. Feedback from retail and data-science reviewers is also welcome.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G_TITL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280160"/>
          </a:xfrm>
          <a:prstGeom prst="rect">
            <a:avLst/>
          </a:prstGeom>
          <a:noFill/>
          <a:ln/>
        </p:spPr>
        <p:txBody>
          <a:bodyPr wrap="square" rtlCol="0"/>
          <a:lstStyle>
            <a:lvl1pPr algn="l" indent="0" marL="0">
              <a:buNone/>
              <a:defRPr lang="en-US" sz="5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5400" dirty="0"/>
          </a:p>
        </p:txBody>
      </p:sp>
      <p:sp>
        <p:nvSpPr>
          <p:cNvPr id="3" name="Text 0"/>
          <p:cNvSpPr/>
          <p:nvPr>
            <p:ph idx="101" type="body" hasCustomPrompt="1"/>
          </p:nvPr>
        </p:nvSpPr>
        <p:spPr>
          <a:xfrm>
            <a:off x="731520" y="3566160"/>
            <a:ext cx="9601200" cy="1097280"/>
          </a:xfrm>
          <a:prstGeom prst="rect">
            <a:avLst/>
          </a:prstGeom>
          <a:noFill/>
          <a:ln/>
        </p:spPr>
        <p:txBody>
          <a:bodyPr wrap="square" rtlCol="0"/>
          <a:lstStyle>
            <a:lvl1pPr indent="0" marL="0">
              <a:buNone/>
              <a:defRPr lang="en-US" sz="2200" dirty="0">
                <a:solidFill>
                  <a:schemeClr val="accent6"/>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G_DARK">
    <p:bg>
      <p:bgPr>
        <a:solidFill>
          <a:schemeClr val="tx2"/>
        </a:solidFill>
      </p:bgPr>
    </p:bg>
    <p:spTree>
      <p:nvGrpSpPr>
        <p:cNvPr id="1" name=""/>
        <p:cNvGrpSpPr/>
        <p:nvPr/>
      </p:nvGrpSpPr>
      <p:grpSpPr>
        <a:xfrm>
          <a:off x="0" y="0"/>
          <a:ext cx="0" cy="0"/>
          <a:chOff x="0" y="0"/>
          <a:chExt cx="0" cy="0"/>
        </a:xfrm>
      </p:grpSpPr>
      <p:sp>
        <p:nvSpPr>
          <p:cNvPr id="2" name="Text 0"/>
          <p:cNvSpPr/>
          <p:nvPr/>
        </p:nvSpPr>
        <p:spPr>
          <a:xfrm>
            <a:off x="548640" y="6400800"/>
            <a:ext cx="4572000" cy="274320"/>
          </a:xfrm>
          <a:prstGeom prst="rect">
            <a:avLst/>
          </a:prstGeom>
          <a:noFill/>
          <a:ln/>
        </p:spPr>
        <p:txBody>
          <a:bodyPr wrap="square" rtlCol="0" anchor="ctr"/>
          <a:lstStyle/>
          <a:p>
            <a:pPr indent="0" marL="0">
              <a:buNone/>
            </a:pPr>
            <a:r>
              <a:rPr lang="en-US" sz="1000" dirty="0">
                <a:solidFill>
                  <a:schemeClr val="accent6"/>
                </a:solidFill>
              </a:rPr>
              <a:t>MarginGraph  ·  October 2026</a:t>
            </a:r>
            <a:endParaRPr lang="en-US" sz="1000" dirty="0"/>
          </a:p>
        </p:txBody>
      </p:sp>
      <p:sp>
        <p:nvSpPr>
          <p:cNvPr id="3" name="Text 1"/>
          <p:cNvSpPr/>
          <p:nvPr>
            <p:ph idx="101" type="title" hasCustomPrompt="1"/>
          </p:nvPr>
        </p:nvSpPr>
        <p:spPr>
          <a:xfrm>
            <a:off x="548640" y="411480"/>
            <a:ext cx="11064240" cy="822960"/>
          </a:xfrm>
          <a:prstGeom prst="rect">
            <a:avLst/>
          </a:prstGeom>
          <a:noFill/>
          <a:ln/>
        </p:spPr>
        <p:txBody>
          <a:bodyPr wrap="square" rtlCol="0"/>
          <a:lstStyle>
            <a:lvl1pPr algn="l" indent="0" marL="0">
              <a:buNone/>
              <a:defRPr lang="en-US" sz="3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MG_LIGHT">
    <p:bg>
      <p:bgPr>
        <a:solidFill>
          <a:schemeClr val="bg1"/>
        </a:solidFill>
      </p:bgPr>
    </p:bg>
    <p:spTree>
      <p:nvGrpSpPr>
        <p:cNvPr id="1" name=""/>
        <p:cNvGrpSpPr/>
        <p:nvPr/>
      </p:nvGrpSpPr>
      <p:grpSpPr>
        <a:xfrm>
          <a:off x="0" y="0"/>
          <a:ext cx="0" cy="0"/>
          <a:chOff x="0" y="0"/>
          <a:chExt cx="0" cy="0"/>
        </a:xfrm>
      </p:grpSpPr>
      <p:sp>
        <p:nvSpPr>
          <p:cNvPr id="2" name="Text 0"/>
          <p:cNvSpPr/>
          <p:nvPr/>
        </p:nvSpPr>
        <p:spPr>
          <a:xfrm>
            <a:off x="548640" y="6400800"/>
            <a:ext cx="4572000" cy="274320"/>
          </a:xfrm>
          <a:prstGeom prst="rect">
            <a:avLst/>
          </a:prstGeom>
          <a:noFill/>
          <a:ln/>
        </p:spPr>
        <p:txBody>
          <a:bodyPr wrap="square" rtlCol="0" anchor="ctr"/>
          <a:lstStyle/>
          <a:p>
            <a:pPr indent="0" marL="0">
              <a:buNone/>
            </a:pPr>
            <a:r>
              <a:rPr lang="en-US" sz="1000" dirty="0">
                <a:solidFill>
                  <a:schemeClr val="accent5"/>
                </a:solidFill>
              </a:rPr>
              <a:t>MarginGraph  ·  October 2026</a:t>
            </a:r>
            <a:endParaRPr lang="en-US" sz="1000" dirty="0"/>
          </a:p>
        </p:txBody>
      </p:sp>
      <p:sp>
        <p:nvSpPr>
          <p:cNvPr id="3" name="Text 1"/>
          <p:cNvSpPr/>
          <p:nvPr>
            <p:ph idx="101" type="title" hasCustomPrompt="1"/>
          </p:nvPr>
        </p:nvSpPr>
        <p:spPr>
          <a:xfrm>
            <a:off x="548640" y="411480"/>
            <a:ext cx="11064240" cy="822960"/>
          </a:xfrm>
          <a:prstGeom prst="rect">
            <a:avLst/>
          </a:prstGeom>
          <a:noFill/>
          <a:ln/>
        </p:spPr>
        <p:txBody>
          <a:bodyPr wrap="square" rtlCol="0"/>
          <a:lstStyle>
            <a:lvl1pPr algn="l" indent="0" marL="0">
              <a:buNone/>
              <a:defRPr lang="en-US" sz="34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4.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image" Target="../media/image-11-1.png"/><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5" Type="http://schemas.openxmlformats.org/officeDocument/2006/relationships/hyperlink" Target="https://huggingface.co/spaces/EquilStable/MarginGraph" TargetMode="Externa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6" Type="http://schemas.openxmlformats.org/officeDocument/2006/relationships/slideLayout" Target="../slideLayouts/slideLayout4.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4" Type="http://schemas.openxmlformats.org/officeDocument/2006/relationships/hyperlink" Target="https://github.com/Sanskar1724/MarginGraph" TargetMode="External"/><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10698480" cy="1280160"/>
          </a:xfrm>
          <a:prstGeom prst="rect">
            <a:avLst/>
          </a:prstGeom>
          <a:noFill/>
          <a:ln/>
        </p:spPr>
        <p:txBody>
          <a:bodyPr wrap="square" lIns="0" tIns="0" rIns="0" bIns="0" rtlCol="0" anchor="b"/>
          <a:lstStyle/>
          <a:p>
            <a:pPr algn="l" indent="0" marL="0">
              <a:buNone/>
            </a:pPr>
            <a:r>
              <a:rPr lang="en-US" sz="5400" b="1" dirty="0">
                <a:solidFill>
                  <a:schemeClr val="bg1"/>
                </a:solidFill>
                <a:latin typeface="Cambria" pitchFamily="34" charset="0"/>
                <a:ea typeface="Cambria" pitchFamily="34" charset="-122"/>
                <a:cs typeface="Cambria" pitchFamily="34" charset="-120"/>
              </a:rPr>
              <a:t>MarginGraph</a:t>
            </a:r>
            <a:endParaRPr lang="en-US" sz="5400" dirty="0"/>
          </a:p>
        </p:txBody>
      </p:sp>
      <p:sp>
        <p:nvSpPr>
          <p:cNvPr id="3" name="Text 0"/>
          <p:cNvSpPr/>
          <p:nvPr>
            <p:ph idx="101" type="body" hasCustomPrompt="1"/>
          </p:nvPr>
        </p:nvSpPr>
        <p:spPr>
          <a:xfrm>
            <a:off x="731520" y="3566160"/>
            <a:ext cx="9601200" cy="1097280"/>
          </a:xfrm>
          <a:prstGeom prst="rect">
            <a:avLst/>
          </a:prstGeom>
          <a:noFill/>
          <a:ln/>
        </p:spPr>
        <p:txBody>
          <a:bodyPr wrap="square" lIns="0" tIns="0" rIns="0" bIns="0" rtlCol="0" anchor="t"/>
          <a:lstStyle/>
          <a:p>
            <a:pPr indent="0" marL="0">
              <a:buNone/>
            </a:pPr>
            <a:r>
              <a:rPr lang="en-US" sz="2200" dirty="0">
                <a:solidFill>
                  <a:schemeClr val="accent6"/>
                </a:solidFill>
              </a:rPr>
              <a:t>Checkout add-ons that shoppers buy and that keep the store's margin safe</a:t>
            </a:r>
            <a:endParaRPr lang="en-US" sz="2200" dirty="0"/>
          </a:p>
        </p:txBody>
      </p:sp>
      <p:sp>
        <p:nvSpPr>
          <p:cNvPr id="4" name="basket icon circle"/>
          <p:cNvSpPr/>
          <p:nvPr/>
        </p:nvSpPr>
        <p:spPr>
          <a:xfrm>
            <a:off x="731520" y="960120"/>
            <a:ext cx="914400" cy="914400"/>
          </a:xfrm>
          <a:prstGeom prst="ellipse">
            <a:avLst/>
          </a:prstGeom>
          <a:solidFill>
            <a:schemeClr val="accent1"/>
          </a:solidFill>
          <a:ln/>
        </p:spPr>
      </p:sp>
      <p:pic>
        <p:nvPicPr>
          <p:cNvPr id="5" name="basket icon" descr="basket icon">    </p:cNvPr>
          <p:cNvPicPr>
            <a:picLocks noChangeAspect="1"/>
          </p:cNvPicPr>
          <p:nvPr/>
        </p:nvPicPr>
        <p:blipFill>
          <a:blip r:embed="rId1"/>
          <a:stretch>
            <a:fillRect/>
          </a:stretch>
        </p:blipFill>
        <p:spPr>
          <a:xfrm>
            <a:off x="960120" y="1188720"/>
            <a:ext cx="457200" cy="457200"/>
          </a:xfrm>
          <a:prstGeom prst="rect">
            <a:avLst/>
          </a:prstGeom>
        </p:spPr>
      </p:pic>
      <p:sp>
        <p:nvSpPr>
          <p:cNvPr id="6" name="Text 3"/>
          <p:cNvSpPr txBox="1"/>
          <p:nvPr/>
        </p:nvSpPr>
        <p:spPr>
          <a:xfrm>
            <a:off x="731520" y="5760720"/>
            <a:ext cx="10515600" cy="365760"/>
          </a:xfrm>
          <a:prstGeom prst="rect">
            <a:avLst/>
          </a:prstGeom>
          <a:noFill/>
          <a:ln/>
        </p:spPr>
        <p:txBody>
          <a:bodyPr wrap="square" lIns="0" tIns="0" rIns="0" bIns="0" rtlCol="0" anchor="t"/>
          <a:lstStyle/>
          <a:p>
            <a:pPr indent="0" marL="0">
              <a:buNone/>
            </a:pPr>
            <a:r>
              <a:rPr lang="en-US" sz="1400" dirty="0">
                <a:solidFill>
                  <a:schemeClr val="accent6"/>
                </a:solidFill>
              </a:rPr>
              <a:t>Sanskar Chandawar  ·  github.com/Sanskar1724/MarginGraph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Recommenders chase clicks. Stores live on margin</a:t>
            </a:r>
            <a:endParaRPr lang="en-US" sz="3400" dirty="0"/>
          </a:p>
        </p:txBody>
      </p:sp>
      <p:sp>
        <p:nvSpPr>
          <p:cNvPr id="3" name="problem card 1"/>
          <p:cNvSpPr/>
          <p:nvPr/>
        </p:nvSpPr>
        <p:spPr>
          <a:xfrm>
            <a:off x="548640" y="1737360"/>
            <a:ext cx="3474720" cy="3291840"/>
          </a:xfrm>
          <a:prstGeom prst="roundRect">
            <a:avLst>
              <a:gd name="adj" fmla="val 3333"/>
            </a:avLst>
          </a:prstGeom>
          <a:solidFill>
            <a:schemeClr val="bg2"/>
          </a:solidFill>
          <a:ln/>
        </p:spPr>
      </p:sp>
      <p:sp>
        <p:nvSpPr>
          <p:cNvPr id="4" name="Thin-margin picks icon circle"/>
          <p:cNvSpPr/>
          <p:nvPr/>
        </p:nvSpPr>
        <p:spPr>
          <a:xfrm>
            <a:off x="868680" y="2057400"/>
            <a:ext cx="914400" cy="914400"/>
          </a:xfrm>
          <a:prstGeom prst="ellipse">
            <a:avLst/>
          </a:prstGeom>
          <a:solidFill>
            <a:schemeClr val="accent1"/>
          </a:solidFill>
          <a:ln/>
        </p:spPr>
      </p:sp>
      <p:pic>
        <p:nvPicPr>
          <p:cNvPr id="5" name="Thin-margin picks icon" descr="Thin-margin picks icon">    </p:cNvPr>
          <p:cNvPicPr>
            <a:picLocks noChangeAspect="1"/>
          </p:cNvPicPr>
          <p:nvPr/>
        </p:nvPicPr>
        <p:blipFill>
          <a:blip r:embed="rId1"/>
          <a:stretch>
            <a:fillRect/>
          </a:stretch>
        </p:blipFill>
        <p:spPr>
          <a:xfrm>
            <a:off x="1097280" y="2286000"/>
            <a:ext cx="457200" cy="457200"/>
          </a:xfrm>
          <a:prstGeom prst="rect">
            <a:avLst/>
          </a:prstGeom>
        </p:spPr>
      </p:pic>
      <p:sp>
        <p:nvSpPr>
          <p:cNvPr id="6" name="Text 3"/>
          <p:cNvSpPr txBox="1"/>
          <p:nvPr/>
        </p:nvSpPr>
        <p:spPr>
          <a:xfrm>
            <a:off x="868680" y="3200400"/>
            <a:ext cx="283464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Thin-margin picks</a:t>
            </a:r>
            <a:endParaRPr lang="en-US" sz="2400" dirty="0"/>
          </a:p>
        </p:txBody>
      </p:sp>
      <p:sp>
        <p:nvSpPr>
          <p:cNvPr id="7" name="Text 4"/>
          <p:cNvSpPr txBox="1"/>
          <p:nvPr/>
        </p:nvSpPr>
        <p:spPr>
          <a:xfrm>
            <a:off x="868680" y="3794760"/>
            <a:ext cx="2834640" cy="914400"/>
          </a:xfrm>
          <a:prstGeom prst="rect">
            <a:avLst/>
          </a:prstGeom>
          <a:noFill/>
          <a:ln/>
        </p:spPr>
        <p:txBody>
          <a:bodyPr wrap="square" lIns="0" tIns="0" rIns="0" bIns="0" rtlCol="0" anchor="t"/>
          <a:lstStyle/>
          <a:p>
            <a:pPr indent="0" marL="0">
              <a:buNone/>
            </a:pPr>
            <a:r>
              <a:rPr lang="en-US" sz="1600" dirty="0">
                <a:solidFill>
                  <a:schemeClr val="tx1"/>
                </a:solidFill>
              </a:rPr>
              <a:t>Cheap best sellers get clicked and earn little</a:t>
            </a:r>
            <a:endParaRPr lang="en-US" sz="1600" dirty="0"/>
          </a:p>
        </p:txBody>
      </p:sp>
      <p:sp>
        <p:nvSpPr>
          <p:cNvPr id="8" name="problem card 2"/>
          <p:cNvSpPr/>
          <p:nvPr/>
        </p:nvSpPr>
        <p:spPr>
          <a:xfrm>
            <a:off x="4297680" y="1737360"/>
            <a:ext cx="3474720" cy="3291840"/>
          </a:xfrm>
          <a:prstGeom prst="roundRect">
            <a:avLst>
              <a:gd name="adj" fmla="val 3333"/>
            </a:avLst>
          </a:prstGeom>
          <a:solidFill>
            <a:schemeClr val="bg2"/>
          </a:solidFill>
          <a:ln/>
        </p:spPr>
      </p:sp>
      <p:sp>
        <p:nvSpPr>
          <p:cNvPr id="9" name="Margin leaks icon circle"/>
          <p:cNvSpPr/>
          <p:nvPr/>
        </p:nvSpPr>
        <p:spPr>
          <a:xfrm>
            <a:off x="4617720" y="2057400"/>
            <a:ext cx="914400" cy="914400"/>
          </a:xfrm>
          <a:prstGeom prst="ellipse">
            <a:avLst/>
          </a:prstGeom>
          <a:solidFill>
            <a:schemeClr val="accent4"/>
          </a:solidFill>
          <a:ln/>
        </p:spPr>
      </p:sp>
      <p:pic>
        <p:nvPicPr>
          <p:cNvPr id="10" name="Margin leaks icon" descr="Margin leaks icon">    </p:cNvPr>
          <p:cNvPicPr>
            <a:picLocks noChangeAspect="1"/>
          </p:cNvPicPr>
          <p:nvPr/>
        </p:nvPicPr>
        <p:blipFill>
          <a:blip r:embed="rId2"/>
          <a:stretch>
            <a:fillRect/>
          </a:stretch>
        </p:blipFill>
        <p:spPr>
          <a:xfrm>
            <a:off x="4846320" y="2286000"/>
            <a:ext cx="457200" cy="457200"/>
          </a:xfrm>
          <a:prstGeom prst="rect">
            <a:avLst/>
          </a:prstGeom>
        </p:spPr>
      </p:pic>
      <p:sp>
        <p:nvSpPr>
          <p:cNvPr id="11" name="Text 7"/>
          <p:cNvSpPr txBox="1"/>
          <p:nvPr/>
        </p:nvSpPr>
        <p:spPr>
          <a:xfrm>
            <a:off x="4617720" y="3200400"/>
            <a:ext cx="283464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Margin leaks</a:t>
            </a:r>
            <a:endParaRPr lang="en-US" sz="2400" dirty="0"/>
          </a:p>
        </p:txBody>
      </p:sp>
      <p:sp>
        <p:nvSpPr>
          <p:cNvPr id="12" name="Text 8"/>
          <p:cNvSpPr txBox="1"/>
          <p:nvPr/>
        </p:nvSpPr>
        <p:spPr>
          <a:xfrm>
            <a:off x="4617720" y="3794760"/>
            <a:ext cx="2834640" cy="914400"/>
          </a:xfrm>
          <a:prstGeom prst="rect">
            <a:avLst/>
          </a:prstGeom>
          <a:noFill/>
          <a:ln/>
        </p:spPr>
        <p:txBody>
          <a:bodyPr wrap="square" lIns="0" tIns="0" rIns="0" bIns="0" rtlCol="0" anchor="t"/>
          <a:lstStyle/>
          <a:p>
            <a:pPr indent="0" marL="0">
              <a:buNone/>
            </a:pPr>
            <a:r>
              <a:rPr lang="en-US" sz="1600" dirty="0">
                <a:solidFill>
                  <a:schemeClr val="tx1"/>
                </a:solidFill>
              </a:rPr>
              <a:t>Nothing stops an offer below a healthy margin</a:t>
            </a:r>
            <a:endParaRPr lang="en-US" sz="1600" dirty="0"/>
          </a:p>
        </p:txBody>
      </p:sp>
      <p:sp>
        <p:nvSpPr>
          <p:cNvPr id="13" name="problem card 3"/>
          <p:cNvSpPr/>
          <p:nvPr/>
        </p:nvSpPr>
        <p:spPr>
          <a:xfrm>
            <a:off x="8046720" y="1737360"/>
            <a:ext cx="3474720" cy="3291840"/>
          </a:xfrm>
          <a:prstGeom prst="roundRect">
            <a:avLst>
              <a:gd name="adj" fmla="val 3333"/>
            </a:avLst>
          </a:prstGeom>
          <a:solidFill>
            <a:schemeClr val="bg2"/>
          </a:solidFill>
          <a:ln/>
        </p:spPr>
      </p:sp>
      <p:sp>
        <p:nvSpPr>
          <p:cNvPr id="14" name="Stuck stock icon circle"/>
          <p:cNvSpPr/>
          <p:nvPr/>
        </p:nvSpPr>
        <p:spPr>
          <a:xfrm>
            <a:off x="8366760" y="2057400"/>
            <a:ext cx="914400" cy="914400"/>
          </a:xfrm>
          <a:prstGeom prst="ellipse">
            <a:avLst/>
          </a:prstGeom>
          <a:solidFill>
            <a:schemeClr val="accent1"/>
          </a:solidFill>
          <a:ln/>
        </p:spPr>
      </p:sp>
      <p:pic>
        <p:nvPicPr>
          <p:cNvPr id="15" name="Stuck stock icon" descr="Stuck stock icon">    </p:cNvPr>
          <p:cNvPicPr>
            <a:picLocks noChangeAspect="1"/>
          </p:cNvPicPr>
          <p:nvPr/>
        </p:nvPicPr>
        <p:blipFill>
          <a:blip r:embed="rId3"/>
          <a:stretch>
            <a:fillRect/>
          </a:stretch>
        </p:blipFill>
        <p:spPr>
          <a:xfrm>
            <a:off x="8595360" y="2286000"/>
            <a:ext cx="457200" cy="457200"/>
          </a:xfrm>
          <a:prstGeom prst="rect">
            <a:avLst/>
          </a:prstGeom>
        </p:spPr>
      </p:pic>
      <p:sp>
        <p:nvSpPr>
          <p:cNvPr id="16" name="Text 11"/>
          <p:cNvSpPr txBox="1"/>
          <p:nvPr/>
        </p:nvSpPr>
        <p:spPr>
          <a:xfrm>
            <a:off x="8366760" y="3200400"/>
            <a:ext cx="2834640" cy="50292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Stuck stock</a:t>
            </a:r>
            <a:endParaRPr lang="en-US" sz="2400" dirty="0"/>
          </a:p>
        </p:txBody>
      </p:sp>
      <p:sp>
        <p:nvSpPr>
          <p:cNvPr id="17" name="Text 12"/>
          <p:cNvSpPr txBox="1"/>
          <p:nvPr/>
        </p:nvSpPr>
        <p:spPr>
          <a:xfrm>
            <a:off x="8366760" y="3794760"/>
            <a:ext cx="2834640" cy="914400"/>
          </a:xfrm>
          <a:prstGeom prst="rect">
            <a:avLst/>
          </a:prstGeom>
          <a:noFill/>
          <a:ln/>
        </p:spPr>
        <p:txBody>
          <a:bodyPr wrap="square" lIns="0" tIns="0" rIns="0" bIns="0" rtlCol="0" anchor="t"/>
          <a:lstStyle/>
          <a:p>
            <a:pPr indent="0" marL="0">
              <a:buNone/>
            </a:pPr>
            <a:r>
              <a:rPr lang="en-US" sz="1600" dirty="0">
                <a:solidFill>
                  <a:schemeClr val="tx1"/>
                </a:solidFill>
              </a:rPr>
              <a:t>Overstock waits for a heavy markdown</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Rank for relevance, optimize for profit, guard the rules</a:t>
            </a:r>
            <a:endParaRPr lang="en-US" sz="3400" dirty="0"/>
          </a:p>
        </p:txBody>
      </p:sp>
      <p:sp>
        <p:nvSpPr>
          <p:cNvPr id="3" name="step card 1"/>
          <p:cNvSpPr/>
          <p:nvPr/>
        </p:nvSpPr>
        <p:spPr>
          <a:xfrm>
            <a:off x="548640" y="1645920"/>
            <a:ext cx="3383280" cy="3246120"/>
          </a:xfrm>
          <a:prstGeom prst="roundRect">
            <a:avLst>
              <a:gd name="adj" fmla="val 3380"/>
            </a:avLst>
          </a:prstGeom>
          <a:solidFill>
            <a:schemeClr val="bg2"/>
          </a:solidFill>
          <a:ln/>
        </p:spPr>
      </p:sp>
      <p:sp>
        <p:nvSpPr>
          <p:cNvPr id="4" name="Rank icon circle"/>
          <p:cNvSpPr/>
          <p:nvPr/>
        </p:nvSpPr>
        <p:spPr>
          <a:xfrm>
            <a:off x="868680" y="1920240"/>
            <a:ext cx="914400" cy="914400"/>
          </a:xfrm>
          <a:prstGeom prst="ellipse">
            <a:avLst/>
          </a:prstGeom>
          <a:solidFill>
            <a:schemeClr val="accent1"/>
          </a:solidFill>
          <a:ln/>
        </p:spPr>
      </p:sp>
      <p:pic>
        <p:nvPicPr>
          <p:cNvPr id="5" name="Rank icon" descr="Rank icon">    </p:cNvPr>
          <p:cNvPicPr>
            <a:picLocks noChangeAspect="1"/>
          </p:cNvPicPr>
          <p:nvPr/>
        </p:nvPicPr>
        <p:blipFill>
          <a:blip r:embed="rId1"/>
          <a:stretch>
            <a:fillRect/>
          </a:stretch>
        </p:blipFill>
        <p:spPr>
          <a:xfrm>
            <a:off x="1097280" y="2148840"/>
            <a:ext cx="457200" cy="457200"/>
          </a:xfrm>
          <a:prstGeom prst="rect">
            <a:avLst/>
          </a:prstGeom>
        </p:spPr>
      </p:pic>
      <p:sp>
        <p:nvSpPr>
          <p:cNvPr id="6" name="Text 3"/>
          <p:cNvSpPr txBox="1"/>
          <p:nvPr/>
        </p:nvSpPr>
        <p:spPr>
          <a:xfrm>
            <a:off x="868680" y="3017520"/>
            <a:ext cx="274320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Rank</a:t>
            </a:r>
            <a:endParaRPr lang="en-US" sz="2600" dirty="0"/>
          </a:p>
        </p:txBody>
      </p:sp>
      <p:sp>
        <p:nvSpPr>
          <p:cNvPr id="7" name="Text 4"/>
          <p:cNvSpPr txBox="1"/>
          <p:nvPr/>
        </p:nvSpPr>
        <p:spPr>
          <a:xfrm>
            <a:off x="868680" y="3566160"/>
            <a:ext cx="2743200" cy="1188720"/>
          </a:xfrm>
          <a:prstGeom prst="rect">
            <a:avLst/>
          </a:prstGeom>
          <a:noFill/>
          <a:ln/>
        </p:spPr>
        <p:txBody>
          <a:bodyPr wrap="square" lIns="0" tIns="0" rIns="0" bIns="0" rtlCol="0" anchor="t"/>
          <a:lstStyle/>
          <a:p>
            <a:pPr indent="0" marL="0">
              <a:buNone/>
            </a:pPr>
            <a:r>
              <a:rPr lang="en-US" sz="1500" dirty="0">
                <a:solidFill>
                  <a:schemeClr val="tx1"/>
                </a:solidFill>
              </a:rPr>
              <a:t>150 candidates from 11 sources, LightGBM scores each one's chance of purchase</a:t>
            </a:r>
            <a:endParaRPr lang="en-US" sz="1500" dirty="0"/>
          </a:p>
        </p:txBody>
      </p:sp>
      <p:sp>
        <p:nvSpPr>
          <p:cNvPr id="8" name="arrow 1"/>
          <p:cNvSpPr/>
          <p:nvPr/>
        </p:nvSpPr>
        <p:spPr>
          <a:xfrm>
            <a:off x="4041648" y="3063240"/>
            <a:ext cx="274320" cy="411480"/>
          </a:xfrm>
          <a:prstGeom prst="chevron">
            <a:avLst/>
          </a:prstGeom>
          <a:solidFill>
            <a:schemeClr val="accent3"/>
          </a:solidFill>
          <a:ln/>
        </p:spPr>
      </p:sp>
      <p:sp>
        <p:nvSpPr>
          <p:cNvPr id="9" name="step card 2"/>
          <p:cNvSpPr/>
          <p:nvPr/>
        </p:nvSpPr>
        <p:spPr>
          <a:xfrm>
            <a:off x="4434840" y="1645920"/>
            <a:ext cx="3383280" cy="3246120"/>
          </a:xfrm>
          <a:prstGeom prst="roundRect">
            <a:avLst>
              <a:gd name="adj" fmla="val 3380"/>
            </a:avLst>
          </a:prstGeom>
          <a:solidFill>
            <a:schemeClr val="bg2"/>
          </a:solidFill>
          <a:ln/>
        </p:spPr>
      </p:sp>
      <p:sp>
        <p:nvSpPr>
          <p:cNvPr id="10" name="Optimize icon circle"/>
          <p:cNvSpPr/>
          <p:nvPr/>
        </p:nvSpPr>
        <p:spPr>
          <a:xfrm>
            <a:off x="4754880" y="1920240"/>
            <a:ext cx="914400" cy="914400"/>
          </a:xfrm>
          <a:prstGeom prst="ellipse">
            <a:avLst/>
          </a:prstGeom>
          <a:solidFill>
            <a:schemeClr val="accent1"/>
          </a:solidFill>
          <a:ln/>
        </p:spPr>
      </p:sp>
      <p:pic>
        <p:nvPicPr>
          <p:cNvPr id="11" name="Optimize icon" descr="Optimize icon">    </p:cNvPr>
          <p:cNvPicPr>
            <a:picLocks noChangeAspect="1"/>
          </p:cNvPicPr>
          <p:nvPr/>
        </p:nvPicPr>
        <p:blipFill>
          <a:blip r:embed="rId2"/>
          <a:stretch>
            <a:fillRect/>
          </a:stretch>
        </p:blipFill>
        <p:spPr>
          <a:xfrm>
            <a:off x="4983480" y="2148840"/>
            <a:ext cx="457200" cy="457200"/>
          </a:xfrm>
          <a:prstGeom prst="rect">
            <a:avLst/>
          </a:prstGeom>
        </p:spPr>
      </p:pic>
      <p:sp>
        <p:nvSpPr>
          <p:cNvPr id="12" name="Text 8"/>
          <p:cNvSpPr txBox="1"/>
          <p:nvPr/>
        </p:nvSpPr>
        <p:spPr>
          <a:xfrm>
            <a:off x="4754880" y="3017520"/>
            <a:ext cx="2743200" cy="502920"/>
          </a:xfrm>
          <a:prstGeom prst="rect">
            <a:avLst/>
          </a:prstGeom>
          <a:noFill/>
          <a:ln/>
        </p:spPr>
        <p:txBody>
          <a:bodyPr wrap="square" lIns="0" tIns="0" rIns="0" bIns="0" rtlCol="0" anchor="t"/>
          <a:lstStyle/>
          <a:p>
            <a:pPr indent="0" marL="0">
              <a:buNone/>
            </a:pPr>
            <a:r>
              <a:rPr lang="en-US" sz="2600" b="1" dirty="0">
                <a:solidFill>
                  <a:schemeClr val="tx2"/>
                </a:solidFill>
                <a:latin typeface="Cambria" pitchFamily="34" charset="0"/>
                <a:ea typeface="Cambria" pitchFamily="34" charset="-122"/>
                <a:cs typeface="Cambria" pitchFamily="34" charset="-120"/>
              </a:rPr>
              <a:t>Optimize</a:t>
            </a:r>
            <a:endParaRPr lang="en-US" sz="2600" dirty="0"/>
          </a:p>
        </p:txBody>
      </p:sp>
      <p:sp>
        <p:nvSpPr>
          <p:cNvPr id="13" name="Text 9"/>
          <p:cNvSpPr txBox="1"/>
          <p:nvPr/>
        </p:nvSpPr>
        <p:spPr>
          <a:xfrm>
            <a:off x="4754880" y="3566160"/>
            <a:ext cx="2743200" cy="1188720"/>
          </a:xfrm>
          <a:prstGeom prst="rect">
            <a:avLst/>
          </a:prstGeom>
          <a:noFill/>
          <a:ln/>
        </p:spPr>
        <p:txBody>
          <a:bodyPr wrap="square" lIns="0" tIns="0" rIns="0" bIns="0" rtlCol="0" anchor="t"/>
          <a:lstStyle/>
          <a:p>
            <a:pPr indent="0" marL="0">
              <a:buNone/>
            </a:pPr>
            <a:r>
              <a:rPr lang="en-US" sz="1500" dirty="0">
                <a:solidFill>
                  <a:schemeClr val="tx1"/>
                </a:solidFill>
              </a:rPr>
              <a:t>A tiny integer program picks the 2 most valuable add-ons in ~3 ms</a:t>
            </a:r>
            <a:endParaRPr lang="en-US" sz="1500" dirty="0"/>
          </a:p>
        </p:txBody>
      </p:sp>
      <p:sp>
        <p:nvSpPr>
          <p:cNvPr id="14" name="arrow 2"/>
          <p:cNvSpPr/>
          <p:nvPr/>
        </p:nvSpPr>
        <p:spPr>
          <a:xfrm>
            <a:off x="7927848" y="3063240"/>
            <a:ext cx="274320" cy="411480"/>
          </a:xfrm>
          <a:prstGeom prst="chevron">
            <a:avLst/>
          </a:prstGeom>
          <a:solidFill>
            <a:schemeClr val="accent3"/>
          </a:solidFill>
          <a:ln/>
        </p:spPr>
      </p:sp>
      <p:sp>
        <p:nvSpPr>
          <p:cNvPr id="15" name="step card 3"/>
          <p:cNvSpPr/>
          <p:nvPr/>
        </p:nvSpPr>
        <p:spPr>
          <a:xfrm>
            <a:off x="8321040" y="1645920"/>
            <a:ext cx="3383280" cy="3246120"/>
          </a:xfrm>
          <a:prstGeom prst="roundRect">
            <a:avLst>
              <a:gd name="adj" fmla="val 3380"/>
            </a:avLst>
          </a:prstGeom>
          <a:solidFill>
            <a:schemeClr val="tx2"/>
          </a:solidFill>
          <a:ln/>
        </p:spPr>
      </p:sp>
      <p:sp>
        <p:nvSpPr>
          <p:cNvPr id="16" name="Guard icon circle"/>
          <p:cNvSpPr/>
          <p:nvPr/>
        </p:nvSpPr>
        <p:spPr>
          <a:xfrm>
            <a:off x="8641080" y="1920240"/>
            <a:ext cx="914400" cy="914400"/>
          </a:xfrm>
          <a:prstGeom prst="ellipse">
            <a:avLst/>
          </a:prstGeom>
          <a:solidFill>
            <a:schemeClr val="accent2"/>
          </a:solidFill>
          <a:ln/>
        </p:spPr>
      </p:sp>
      <p:pic>
        <p:nvPicPr>
          <p:cNvPr id="17" name="Guard icon" descr="Guard icon">    </p:cNvPr>
          <p:cNvPicPr>
            <a:picLocks noChangeAspect="1"/>
          </p:cNvPicPr>
          <p:nvPr/>
        </p:nvPicPr>
        <p:blipFill>
          <a:blip r:embed="rId3"/>
          <a:stretch>
            <a:fillRect/>
          </a:stretch>
        </p:blipFill>
        <p:spPr>
          <a:xfrm>
            <a:off x="8869680" y="2148840"/>
            <a:ext cx="457200" cy="457200"/>
          </a:xfrm>
          <a:prstGeom prst="rect">
            <a:avLst/>
          </a:prstGeom>
        </p:spPr>
      </p:pic>
      <p:sp>
        <p:nvSpPr>
          <p:cNvPr id="18" name="Text 13"/>
          <p:cNvSpPr txBox="1"/>
          <p:nvPr/>
        </p:nvSpPr>
        <p:spPr>
          <a:xfrm>
            <a:off x="8641080" y="3017520"/>
            <a:ext cx="2743200" cy="50292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Guard</a:t>
            </a:r>
            <a:endParaRPr lang="en-US" sz="2600" dirty="0"/>
          </a:p>
        </p:txBody>
      </p:sp>
      <p:sp>
        <p:nvSpPr>
          <p:cNvPr id="19" name="Text 14"/>
          <p:cNvSpPr txBox="1"/>
          <p:nvPr/>
        </p:nvSpPr>
        <p:spPr>
          <a:xfrm>
            <a:off x="8641080" y="3566160"/>
            <a:ext cx="2743200" cy="1188720"/>
          </a:xfrm>
          <a:prstGeom prst="rect">
            <a:avLst/>
          </a:prstGeom>
          <a:noFill/>
          <a:ln/>
        </p:spPr>
        <p:txBody>
          <a:bodyPr wrap="square" lIns="0" tIns="0" rIns="0" bIns="0" rtlCol="0" anchor="t"/>
          <a:lstStyle/>
          <a:p>
            <a:pPr indent="0" marL="0">
              <a:buNone/>
            </a:pPr>
            <a:r>
              <a:rPr lang="en-US" sz="1500" dirty="0">
                <a:solidFill>
                  <a:schemeClr val="accent6"/>
                </a:solidFill>
              </a:rPr>
              <a:t>Margin floor, max 2 add-ons, in stock only. Enforced in code, never by a model</a:t>
            </a:r>
            <a:endParaRPr lang="en-US" sz="1500" dirty="0"/>
          </a:p>
        </p:txBody>
      </p:sp>
      <p:sp>
        <p:nvSpPr>
          <p:cNvPr id="20" name="Text 15"/>
          <p:cNvSpPr txBox="1"/>
          <p:nvPr/>
        </p:nvSpPr>
        <p:spPr>
          <a:xfrm>
            <a:off x="548640" y="5257800"/>
            <a:ext cx="11064240" cy="411480"/>
          </a:xfrm>
          <a:prstGeom prst="rect">
            <a:avLst/>
          </a:prstGeom>
          <a:noFill/>
          <a:ln/>
        </p:spPr>
        <p:txBody>
          <a:bodyPr wrap="square" lIns="0" tIns="0" rIns="0" bIns="0" rtlCol="0" anchor="t"/>
          <a:lstStyle/>
          <a:p>
            <a:pPr indent="0" marL="0">
              <a:buNone/>
            </a:pPr>
            <a:r>
              <a:rPr lang="en-US" sz="1800" i="1" dirty="0">
                <a:solidFill>
                  <a:schemeClr val="accent1"/>
                </a:solidFill>
              </a:rPr>
              <a:t>One slider, λ, moves the balance from pure relevance (0) to expected profit (1)</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Tested on five public store datasets</a:t>
            </a:r>
            <a:endParaRPr lang="en-US" sz="3400" dirty="0"/>
          </a:p>
        </p:txBody>
      </p:sp>
      <p:sp>
        <p:nvSpPr>
          <p:cNvPr id="3" name="Text 1"/>
          <p:cNvSpPr txBox="1"/>
          <p:nvPr/>
        </p:nvSpPr>
        <p:spPr>
          <a:xfrm>
            <a:off x="548640" y="1828800"/>
            <a:ext cx="2651760" cy="868680"/>
          </a:xfrm>
          <a:prstGeom prst="rect">
            <a:avLst/>
          </a:prstGeom>
          <a:noFill/>
          <a:ln/>
        </p:spPr>
        <p:txBody>
          <a:bodyPr wrap="square" lIns="0" tIns="0" rIns="0" bIns="0" rtlCol="0" anchor="b"/>
          <a:lstStyle/>
          <a:p>
            <a:pPr indent="0" marL="0">
              <a:buNone/>
            </a:pPr>
            <a:r>
              <a:rPr lang="en-US" sz="6000" b="1" dirty="0">
                <a:solidFill>
                  <a:schemeClr val="accent2"/>
                </a:solidFill>
                <a:latin typeface="Cambria" pitchFamily="34" charset="0"/>
                <a:ea typeface="Cambria" pitchFamily="34" charset="-122"/>
                <a:cs typeface="Cambria" pitchFamily="34" charset="-120"/>
              </a:rPr>
              <a:t>5</a:t>
            </a:r>
            <a:endParaRPr lang="en-US" sz="6000" dirty="0"/>
          </a:p>
        </p:txBody>
      </p:sp>
      <p:sp>
        <p:nvSpPr>
          <p:cNvPr id="4" name="Text 2"/>
          <p:cNvSpPr txBox="1"/>
          <p:nvPr/>
        </p:nvSpPr>
        <p:spPr>
          <a:xfrm>
            <a:off x="548640" y="2743200"/>
            <a:ext cx="2651760" cy="731520"/>
          </a:xfrm>
          <a:prstGeom prst="rect">
            <a:avLst/>
          </a:prstGeom>
          <a:noFill/>
          <a:ln/>
        </p:spPr>
        <p:txBody>
          <a:bodyPr wrap="square" lIns="0" tIns="0" rIns="0" bIns="0" rtlCol="0" anchor="t"/>
          <a:lstStyle/>
          <a:p>
            <a:pPr indent="0" marL="0">
              <a:buNone/>
            </a:pPr>
            <a:r>
              <a:rPr lang="en-US" sz="1400" dirty="0">
                <a:solidFill>
                  <a:schemeClr val="bg1"/>
                </a:solidFill>
              </a:rPr>
              <a:t>datasets, 4 countries:</a:t>
            </a:r>
            <a:endParaRPr lang="en-US" sz="1400" dirty="0"/>
          </a:p>
          <a:p>
            <a:pPr indent="0" marL="0">
              <a:buNone/>
            </a:pPr>
            <a:r>
              <a:rPr lang="en-US" sz="1400" dirty="0">
                <a:solidFill>
                  <a:schemeClr val="bg1"/>
                </a:solidFill>
              </a:rPr>
              <a:t>UK, Taiwan, US, Brazil</a:t>
            </a:r>
            <a:endParaRPr lang="en-US" sz="1400" dirty="0"/>
          </a:p>
        </p:txBody>
      </p:sp>
      <p:sp>
        <p:nvSpPr>
          <p:cNvPr id="5" name="Text 3"/>
          <p:cNvSpPr txBox="1"/>
          <p:nvPr/>
        </p:nvSpPr>
        <p:spPr>
          <a:xfrm>
            <a:off x="3383280" y="1828800"/>
            <a:ext cx="2651760" cy="86868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+7 to +10</a:t>
            </a:r>
            <a:endParaRPr lang="en-US" sz="4400" dirty="0"/>
          </a:p>
        </p:txBody>
      </p:sp>
      <p:sp>
        <p:nvSpPr>
          <p:cNvPr id="6" name="Text 4"/>
          <p:cNvSpPr txBox="1"/>
          <p:nvPr/>
        </p:nvSpPr>
        <p:spPr>
          <a:xfrm>
            <a:off x="3383280" y="2743200"/>
            <a:ext cx="2651760" cy="731520"/>
          </a:xfrm>
          <a:prstGeom prst="rect">
            <a:avLst/>
          </a:prstGeom>
          <a:noFill/>
          <a:ln/>
        </p:spPr>
        <p:txBody>
          <a:bodyPr wrap="square" lIns="0" tIns="0" rIns="0" bIns="0" rtlCol="0" anchor="t"/>
          <a:lstStyle/>
          <a:p>
            <a:pPr indent="0" marL="0">
              <a:buNone/>
            </a:pPr>
            <a:r>
              <a:rPr lang="en-US" sz="1400" dirty="0">
                <a:solidFill>
                  <a:schemeClr val="bg1"/>
                </a:solidFill>
              </a:rPr>
              <a:t>Hit@10 points over the best</a:t>
            </a:r>
            <a:endParaRPr lang="en-US" sz="1400" dirty="0"/>
          </a:p>
          <a:p>
            <a:pPr indent="0" marL="0">
              <a:buNone/>
            </a:pPr>
            <a:r>
              <a:rPr lang="en-US" sz="1400" dirty="0">
                <a:solidFill>
                  <a:schemeClr val="bg1"/>
                </a:solidFill>
              </a:rPr>
              <a:t>standard method</a:t>
            </a:r>
            <a:endParaRPr lang="en-US" sz="1400" dirty="0"/>
          </a:p>
        </p:txBody>
      </p:sp>
      <p:sp>
        <p:nvSpPr>
          <p:cNvPr id="7" name="Text 5"/>
          <p:cNvSpPr txBox="1"/>
          <p:nvPr/>
        </p:nvSpPr>
        <p:spPr>
          <a:xfrm>
            <a:off x="6217920" y="1828800"/>
            <a:ext cx="2651760" cy="868680"/>
          </a:xfrm>
          <a:prstGeom prst="rect">
            <a:avLst/>
          </a:prstGeom>
          <a:noFill/>
          <a:ln/>
        </p:spPr>
        <p:txBody>
          <a:bodyPr wrap="square" lIns="0" tIns="0" rIns="0" bIns="0" rtlCol="0" anchor="b"/>
          <a:lstStyle/>
          <a:p>
            <a:pPr indent="0" marL="0">
              <a:buNone/>
            </a:pPr>
            <a:r>
              <a:rPr lang="en-US" sz="6000" b="1" dirty="0">
                <a:solidFill>
                  <a:schemeClr val="accent2"/>
                </a:solidFill>
                <a:latin typeface="Cambria" pitchFamily="34" charset="0"/>
                <a:ea typeface="Cambria" pitchFamily="34" charset="-122"/>
                <a:cs typeface="Cambria" pitchFamily="34" charset="-120"/>
              </a:rPr>
              <a:t>+24%</a:t>
            </a:r>
            <a:endParaRPr lang="en-US" sz="6000" dirty="0"/>
          </a:p>
        </p:txBody>
      </p:sp>
      <p:sp>
        <p:nvSpPr>
          <p:cNvPr id="8" name="Text 6"/>
          <p:cNvSpPr txBox="1"/>
          <p:nvPr/>
        </p:nvSpPr>
        <p:spPr>
          <a:xfrm>
            <a:off x="6217920" y="2743200"/>
            <a:ext cx="2651760" cy="731520"/>
          </a:xfrm>
          <a:prstGeom prst="rect">
            <a:avLst/>
          </a:prstGeom>
          <a:noFill/>
          <a:ln/>
        </p:spPr>
        <p:txBody>
          <a:bodyPr wrap="square" lIns="0" tIns="0" rIns="0" bIns="0" rtlCol="0" anchor="t"/>
          <a:lstStyle/>
          <a:p>
            <a:pPr indent="0" marL="0">
              <a:buNone/>
            </a:pPr>
            <a:r>
              <a:rPr lang="en-US" sz="1400" dirty="0">
                <a:solidFill>
                  <a:schemeClr val="bg1"/>
                </a:solidFill>
              </a:rPr>
              <a:t>add-on profit in a 30-day</a:t>
            </a:r>
            <a:endParaRPr lang="en-US" sz="1400" dirty="0"/>
          </a:p>
          <a:p>
            <a:pPr indent="0" marL="0">
              <a:buNone/>
            </a:pPr>
            <a:r>
              <a:rPr lang="en-US" sz="1400" dirty="0">
                <a:solidFill>
                  <a:schemeClr val="bg1"/>
                </a:solidFill>
              </a:rPr>
              <a:t>store simulation*</a:t>
            </a:r>
            <a:endParaRPr lang="en-US" sz="1400" dirty="0"/>
          </a:p>
        </p:txBody>
      </p:sp>
      <p:sp>
        <p:nvSpPr>
          <p:cNvPr id="9" name="Text 7"/>
          <p:cNvSpPr txBox="1"/>
          <p:nvPr/>
        </p:nvSpPr>
        <p:spPr>
          <a:xfrm>
            <a:off x="9052560" y="1828800"/>
            <a:ext cx="2651760" cy="868680"/>
          </a:xfrm>
          <a:prstGeom prst="rect">
            <a:avLst/>
          </a:prstGeom>
          <a:noFill/>
          <a:ln/>
        </p:spPr>
        <p:txBody>
          <a:bodyPr wrap="square" lIns="0" tIns="0" rIns="0" bIns="0" rtlCol="0" anchor="b"/>
          <a:lstStyle/>
          <a:p>
            <a:pPr indent="0" marL="0">
              <a:buNone/>
            </a:pPr>
            <a:r>
              <a:rPr lang="en-US" sz="6000" b="1" dirty="0">
                <a:solidFill>
                  <a:schemeClr val="accent2"/>
                </a:solidFill>
                <a:latin typeface="Cambria" pitchFamily="34" charset="0"/>
                <a:ea typeface="Cambria" pitchFamily="34" charset="-122"/>
                <a:cs typeface="Cambria" pitchFamily="34" charset="-120"/>
              </a:rPr>
              <a:t>0</a:t>
            </a:r>
            <a:endParaRPr lang="en-US" sz="6000" dirty="0"/>
          </a:p>
        </p:txBody>
      </p:sp>
      <p:sp>
        <p:nvSpPr>
          <p:cNvPr id="10" name="Text 8"/>
          <p:cNvSpPr txBox="1"/>
          <p:nvPr/>
        </p:nvSpPr>
        <p:spPr>
          <a:xfrm>
            <a:off x="9052560" y="2743200"/>
            <a:ext cx="2651760" cy="731520"/>
          </a:xfrm>
          <a:prstGeom prst="rect">
            <a:avLst/>
          </a:prstGeom>
          <a:noFill/>
          <a:ln/>
        </p:spPr>
        <p:txBody>
          <a:bodyPr wrap="square" lIns="0" tIns="0" rIns="0" bIns="0" rtlCol="0" anchor="t"/>
          <a:lstStyle/>
          <a:p>
            <a:pPr indent="0" marL="0">
              <a:buNone/>
            </a:pPr>
            <a:r>
              <a:rPr lang="en-US" sz="1400" dirty="0">
                <a:solidFill>
                  <a:schemeClr val="bg1"/>
                </a:solidFill>
              </a:rPr>
              <a:t>offers below the 15% margin</a:t>
            </a:r>
            <a:endParaRPr lang="en-US" sz="1400" dirty="0"/>
          </a:p>
          <a:p>
            <a:pPr indent="0" marL="0">
              <a:buNone/>
            </a:pPr>
            <a:r>
              <a:rPr lang="en-US" sz="1400" dirty="0">
                <a:solidFill>
                  <a:schemeClr val="bg1"/>
                </a:solidFill>
              </a:rPr>
              <a:t>floor (ranker alone: 164)</a:t>
            </a:r>
            <a:endParaRPr lang="en-US" sz="1400" dirty="0"/>
          </a:p>
        </p:txBody>
      </p:sp>
      <p:sp>
        <p:nvSpPr>
          <p:cNvPr id="11" name="method card"/>
          <p:cNvSpPr/>
          <p:nvPr/>
        </p:nvSpPr>
        <p:spPr>
          <a:xfrm>
            <a:off x="548640" y="4160520"/>
            <a:ext cx="11064240" cy="1234440"/>
          </a:xfrm>
          <a:prstGeom prst="roundRect">
            <a:avLst>
              <a:gd name="adj" fmla="val 8889"/>
            </a:avLst>
          </a:prstGeom>
          <a:solidFill>
            <a:srgbClr val="1C4A3C"/>
          </a:solidFill>
          <a:ln/>
        </p:spPr>
      </p:sp>
      <p:sp>
        <p:nvSpPr>
          <p:cNvPr id="12" name="Text 10"/>
          <p:cNvSpPr txBox="1"/>
          <p:nvPr/>
        </p:nvSpPr>
        <p:spPr>
          <a:xfrm>
            <a:off x="868680" y="4297680"/>
            <a:ext cx="10424160" cy="960120"/>
          </a:xfrm>
          <a:prstGeom prst="rect">
            <a:avLst/>
          </a:prstGeom>
          <a:noFill/>
          <a:ln/>
        </p:spPr>
        <p:txBody>
          <a:bodyPr wrap="square" lIns="0" tIns="0" rIns="0" bIns="0" rtlCol="0" anchor="ctr"/>
          <a:lstStyle/>
          <a:p>
            <a:pPr indent="0" marL="0">
              <a:buNone/>
            </a:pPr>
            <a:r>
              <a:rPr lang="en-US" sz="1700" b="1" dirty="0">
                <a:solidFill>
                  <a:schemeClr val="accent2"/>
                </a:solidFill>
              </a:rPr>
              <a:t>Honest test:  </a:t>
            </a:r>
            <a:pPr indent="0" marL="0">
              <a:buNone/>
            </a:pPr>
            <a:r>
              <a:rPr lang="en-US" sz="1700" dirty="0">
                <a:solidFill>
                  <a:schemeClr val="bg1"/>
                </a:solidFill>
              </a:rPr>
              <a:t>split by date, one bought item hidden per basket, every comparison paired with a 95% confidence interval, success rule fixed before running.</a:t>
            </a:r>
            <a:endParaRPr lang="en-US" sz="1700" dirty="0"/>
          </a:p>
        </p:txBody>
      </p:sp>
      <p:sp>
        <p:nvSpPr>
          <p:cNvPr id="13" name="Text 11"/>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6"/>
                </a:solidFill>
              </a:rPr>
              <a:t>* Cost and stock are simulated on every dataset: the data has prices but no unit cost.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The ranker beats every standard method</a:t>
            </a:r>
            <a:endParaRPr lang="en-US" sz="3400" dirty="0"/>
          </a:p>
        </p:txBody>
      </p:sp>
      <p:sp>
        <p:nvSpPr>
          <p:cNvPr id="3" name="Text 1"/>
          <p:cNvSpPr txBox="1"/>
          <p:nvPr/>
        </p:nvSpPr>
        <p:spPr>
          <a:xfrm>
            <a:off x="548640" y="1371600"/>
            <a:ext cx="6949440" cy="365760"/>
          </a:xfrm>
          <a:prstGeom prst="rect">
            <a:avLst/>
          </a:prstGeom>
          <a:noFill/>
          <a:ln/>
        </p:spPr>
        <p:txBody>
          <a:bodyPr wrap="square" lIns="0" tIns="0" rIns="0" bIns="0" rtlCol="0" anchor="t"/>
          <a:lstStyle/>
          <a:p>
            <a:pPr indent="0" marL="0">
              <a:buNone/>
            </a:pPr>
            <a:r>
              <a:rPr lang="en-US" sz="1400" b="1" dirty="0">
                <a:solidFill>
                  <a:schemeClr val="accent5"/>
                </a:solidFill>
              </a:rPr>
              <a:t>Hidden item in the top 10 (%), 4,480 real UK test baskets</a:t>
            </a:r>
            <a:endParaRPr lang="en-US" sz="1400" dirty="0"/>
          </a:p>
        </p:txBody>
      </p:sp>
      <p:graphicFrame>
        <p:nvGraphicFramePr>
          <p:cNvPr id="4" name="Hit@10 chart" descr=""/>
          <p:cNvGraphicFramePr/>
          <p:nvPr/>
        </p:nvGraphicFramePr>
        <p:xfrm>
          <a:off x="548640" y="173736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37360"/>
            <a:ext cx="3566160" cy="86868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+7.0 pts</a:t>
            </a:r>
            <a:endParaRPr lang="en-US" sz="5400" dirty="0"/>
          </a:p>
        </p:txBody>
      </p:sp>
      <p:sp>
        <p:nvSpPr>
          <p:cNvPr id="6" name="Text 3"/>
          <p:cNvSpPr txBox="1"/>
          <p:nvPr/>
        </p:nvSpPr>
        <p:spPr>
          <a:xfrm>
            <a:off x="8046720" y="2651760"/>
            <a:ext cx="3566160" cy="731520"/>
          </a:xfrm>
          <a:prstGeom prst="rect">
            <a:avLst/>
          </a:prstGeom>
          <a:noFill/>
          <a:ln/>
        </p:spPr>
        <p:txBody>
          <a:bodyPr wrap="square" lIns="0" tIns="0" rIns="0" bIns="0" rtlCol="0" anchor="t"/>
          <a:lstStyle/>
          <a:p>
            <a:pPr indent="0" marL="0">
              <a:buNone/>
            </a:pPr>
            <a:r>
              <a:rPr lang="en-US" sz="1400" dirty="0">
                <a:solidFill>
                  <a:schemeClr val="accent5"/>
                </a:solidFill>
              </a:rPr>
              <a:t>over EASE, the best standard method</a:t>
            </a:r>
            <a:endParaRPr lang="en-US" sz="1400" dirty="0"/>
          </a:p>
          <a:p>
            <a:pPr indent="0" marL="0">
              <a:buNone/>
            </a:pPr>
            <a:r>
              <a:rPr lang="en-US" sz="1400" dirty="0">
                <a:solidFill>
                  <a:schemeClr val="accent5"/>
                </a:solidFill>
              </a:rPr>
              <a:t>95% CI [6.0, 8.0]</a:t>
            </a:r>
            <a:endParaRPr lang="en-US" sz="1400" dirty="0"/>
          </a:p>
        </p:txBody>
      </p:sp>
      <p:sp>
        <p:nvSpPr>
          <p:cNvPr id="7" name="Text 4"/>
          <p:cNvSpPr txBox="1"/>
          <p:nvPr/>
        </p:nvSpPr>
        <p:spPr>
          <a:xfrm>
            <a:off x="8046720" y="3657600"/>
            <a:ext cx="3566160" cy="86868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38.1%</a:t>
            </a:r>
            <a:endParaRPr lang="en-US" sz="5400" dirty="0"/>
          </a:p>
        </p:txBody>
      </p:sp>
      <p:sp>
        <p:nvSpPr>
          <p:cNvPr id="8" name="Text 5"/>
          <p:cNvSpPr txBox="1"/>
          <p:nvPr/>
        </p:nvSpPr>
        <p:spPr>
          <a:xfrm>
            <a:off x="8046720" y="4572000"/>
            <a:ext cx="3566160" cy="731520"/>
          </a:xfrm>
          <a:prstGeom prst="rect">
            <a:avLst/>
          </a:prstGeom>
          <a:noFill/>
          <a:ln/>
        </p:spPr>
        <p:txBody>
          <a:bodyPr wrap="square" lIns="0" tIns="0" rIns="0" bIns="0" rtlCol="0" anchor="t"/>
          <a:lstStyle/>
          <a:p>
            <a:pPr indent="0" marL="0">
              <a:buNone/>
            </a:pPr>
            <a:r>
              <a:rPr lang="en-US" sz="1400" dirty="0">
                <a:solidFill>
                  <a:schemeClr val="accent5"/>
                </a:solidFill>
              </a:rPr>
              <a:t>of baskets: the item the shopper</a:t>
            </a:r>
            <a:endParaRPr lang="en-US" sz="1400" dirty="0"/>
          </a:p>
          <a:p>
            <a:pPr indent="0" marL="0">
              <a:buNone/>
            </a:pPr>
            <a:r>
              <a:rPr lang="en-US" sz="1400" dirty="0">
                <a:solidFill>
                  <a:schemeClr val="accent5"/>
                </a:solidFill>
              </a:rPr>
              <a:t>really added is in our top 10</a:t>
            </a:r>
            <a:endParaRPr lang="en-US" sz="1400" dirty="0"/>
          </a:p>
        </p:txBody>
      </p:sp>
      <p:sp>
        <p:nvSpPr>
          <p:cNvPr id="9" name="Text 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5"/>
                </a:solidFill>
              </a:rPr>
              <a:t>UCI Online Retail II, UK gift wholesaler, test Oct-Dec 2011.</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It works beyond one store</a:t>
            </a:r>
            <a:endParaRPr lang="en-US" sz="3400" dirty="0"/>
          </a:p>
        </p:txBody>
      </p:sp>
      <p:sp>
        <p:nvSpPr>
          <p:cNvPr id="3" name="Text 1"/>
          <p:cNvSpPr txBox="1"/>
          <p:nvPr/>
        </p:nvSpPr>
        <p:spPr>
          <a:xfrm>
            <a:off x="548640" y="1371600"/>
            <a:ext cx="7315200" cy="365760"/>
          </a:xfrm>
          <a:prstGeom prst="rect">
            <a:avLst/>
          </a:prstGeom>
          <a:noFill/>
          <a:ln/>
        </p:spPr>
        <p:txBody>
          <a:bodyPr wrap="square" lIns="0" tIns="0" rIns="0" bIns="0" rtlCol="0" anchor="t"/>
          <a:lstStyle/>
          <a:p>
            <a:pPr indent="0" marL="0">
              <a:buNone/>
            </a:pPr>
            <a:r>
              <a:rPr lang="en-US" sz="1400" b="1" dirty="0">
                <a:solidFill>
                  <a:schemeClr val="accent5"/>
                </a:solidFill>
              </a:rPr>
              <a:t>Hit@10 gain over the best standard method (points), unchanged pipeline</a:t>
            </a:r>
            <a:endParaRPr lang="en-US" sz="1400" dirty="0"/>
          </a:p>
        </p:txBody>
      </p:sp>
      <p:graphicFrame>
        <p:nvGraphicFramePr>
          <p:cNvPr id="4" name="five datasets chart" descr=""/>
          <p:cNvGraphicFramePr/>
          <p:nvPr/>
        </p:nvGraphicFramePr>
        <p:xfrm>
          <a:off x="548640" y="1737360"/>
          <a:ext cx="731520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645920"/>
            <a:ext cx="3291840" cy="868680"/>
          </a:xfrm>
          <a:prstGeom prst="rect">
            <a:avLst/>
          </a:prstGeom>
          <a:noFill/>
          <a:ln/>
        </p:spPr>
        <p:txBody>
          <a:bodyPr wrap="square" lIns="0" tIns="0" rIns="0" bIns="0" rtlCol="0" anchor="b"/>
          <a:lstStyle/>
          <a:p>
            <a:pPr indent="0" marL="0">
              <a:buNone/>
            </a:pPr>
            <a:r>
              <a:rPr lang="en-US" sz="3600" b="1" dirty="0">
                <a:solidFill>
                  <a:schemeClr val="accent1"/>
                </a:solidFill>
                <a:latin typeface="Cambria" pitchFamily="34" charset="0"/>
                <a:ea typeface="Cambria" pitchFamily="34" charset="-122"/>
                <a:cs typeface="Cambria" pitchFamily="34" charset="-120"/>
              </a:rPr>
              <a:t>3 wins</a:t>
            </a:r>
            <a:endParaRPr lang="en-US" sz="3600" dirty="0"/>
          </a:p>
        </p:txBody>
      </p:sp>
      <p:sp>
        <p:nvSpPr>
          <p:cNvPr id="6" name="Text 3"/>
          <p:cNvSpPr txBox="1"/>
          <p:nvPr/>
        </p:nvSpPr>
        <p:spPr>
          <a:xfrm>
            <a:off x="8321040" y="2560320"/>
            <a:ext cx="3291840" cy="731520"/>
          </a:xfrm>
          <a:prstGeom prst="rect">
            <a:avLst/>
          </a:prstGeom>
          <a:noFill/>
          <a:ln/>
        </p:spPr>
        <p:txBody>
          <a:bodyPr wrap="square" lIns="0" tIns="0" rIns="0" bIns="0" rtlCol="0" anchor="t"/>
          <a:lstStyle/>
          <a:p>
            <a:pPr indent="0" marL="0">
              <a:buNone/>
            </a:pPr>
            <a:r>
              <a:rPr lang="en-US" sz="1400" dirty="0">
                <a:solidFill>
                  <a:schemeClr val="accent5"/>
                </a:solidFill>
              </a:rPr>
              <a:t>UK, Taiwan, US supermarket</a:t>
            </a:r>
            <a:endParaRPr lang="en-US" sz="1400" dirty="0"/>
          </a:p>
          <a:p>
            <a:pPr indent="0" marL="0">
              <a:buNone/>
            </a:pPr>
            <a:r>
              <a:rPr lang="en-US" sz="1400" dirty="0">
                <a:solidFill>
                  <a:schemeClr val="accent5"/>
                </a:solidFill>
              </a:rPr>
              <a:t>every CI above zero</a:t>
            </a:r>
            <a:endParaRPr lang="en-US" sz="1400" dirty="0"/>
          </a:p>
        </p:txBody>
      </p:sp>
      <p:sp>
        <p:nvSpPr>
          <p:cNvPr id="7" name="Text 4"/>
          <p:cNvSpPr txBox="1"/>
          <p:nvPr/>
        </p:nvSpPr>
        <p:spPr>
          <a:xfrm>
            <a:off x="8321040" y="3063240"/>
            <a:ext cx="3291840" cy="868680"/>
          </a:xfrm>
          <a:prstGeom prst="rect">
            <a:avLst/>
          </a:prstGeom>
          <a:noFill/>
          <a:ln/>
        </p:spPr>
        <p:txBody>
          <a:bodyPr wrap="square" lIns="0" tIns="0" rIns="0" bIns="0" rtlCol="0" anchor="b"/>
          <a:lstStyle/>
          <a:p>
            <a:pPr indent="0" marL="0">
              <a:buNone/>
            </a:pPr>
            <a:r>
              <a:rPr lang="en-US" sz="3600" b="1" dirty="0">
                <a:solidFill>
                  <a:schemeClr val="accent4"/>
                </a:solidFill>
                <a:latin typeface="Cambria" pitchFamily="34" charset="0"/>
                <a:ea typeface="Cambria" pitchFamily="34" charset="-122"/>
                <a:cs typeface="Cambria" pitchFamily="34" charset="-120"/>
              </a:rPr>
              <a:t>1 loss</a:t>
            </a:r>
            <a:endParaRPr lang="en-US" sz="3600" dirty="0"/>
          </a:p>
        </p:txBody>
      </p:sp>
      <p:sp>
        <p:nvSpPr>
          <p:cNvPr id="8" name="Text 5"/>
          <p:cNvSpPr txBox="1"/>
          <p:nvPr/>
        </p:nvSpPr>
        <p:spPr>
          <a:xfrm>
            <a:off x="8321040" y="3977640"/>
            <a:ext cx="3291840" cy="731520"/>
          </a:xfrm>
          <a:prstGeom prst="rect">
            <a:avLst/>
          </a:prstGeom>
          <a:noFill/>
          <a:ln/>
        </p:spPr>
        <p:txBody>
          <a:bodyPr wrap="square" lIns="0" tIns="0" rIns="0" bIns="0" rtlCol="0" anchor="t"/>
          <a:lstStyle/>
          <a:p>
            <a:pPr indent="0" marL="0">
              <a:buNone/>
            </a:pPr>
            <a:r>
              <a:rPr lang="en-US" sz="1400" dirty="0">
                <a:solidFill>
                  <a:schemeClr val="accent5"/>
                </a:solidFill>
              </a:rPr>
              <a:t>Instacart: −3.0 pts</a:t>
            </a:r>
            <a:endParaRPr lang="en-US" sz="1400" dirty="0"/>
          </a:p>
          <a:p>
            <a:pPr indent="0" marL="0">
              <a:buNone/>
            </a:pPr>
            <a:r>
              <a:rPr lang="en-US" sz="1400" dirty="0">
                <a:solidFill>
                  <a:schemeClr val="accent5"/>
                </a:solidFill>
              </a:rPr>
              <a:t>(fixed on the next slide)</a:t>
            </a:r>
            <a:endParaRPr lang="en-US" sz="1400" dirty="0"/>
          </a:p>
        </p:txBody>
      </p:sp>
      <p:sp>
        <p:nvSpPr>
          <p:cNvPr id="9" name="Text 6"/>
          <p:cNvSpPr txBox="1"/>
          <p:nvPr/>
        </p:nvSpPr>
        <p:spPr>
          <a:xfrm>
            <a:off x="8321040" y="4480560"/>
            <a:ext cx="3291840" cy="86868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1 tie</a:t>
            </a:r>
            <a:endParaRPr lang="en-US" sz="3600" dirty="0"/>
          </a:p>
        </p:txBody>
      </p:sp>
      <p:sp>
        <p:nvSpPr>
          <p:cNvPr id="10" name="Text 7"/>
          <p:cNvSpPr txBox="1"/>
          <p:nvPr/>
        </p:nvSpPr>
        <p:spPr>
          <a:xfrm>
            <a:off x="8321040" y="5394960"/>
            <a:ext cx="3291840" cy="731520"/>
          </a:xfrm>
          <a:prstGeom prst="rect">
            <a:avLst/>
          </a:prstGeom>
          <a:noFill/>
          <a:ln/>
        </p:spPr>
        <p:txBody>
          <a:bodyPr wrap="square" lIns="0" tIns="0" rIns="0" bIns="0" rtlCol="0" anchor="t"/>
          <a:lstStyle/>
          <a:p>
            <a:pPr indent="0" marL="0">
              <a:buNone/>
            </a:pPr>
            <a:r>
              <a:rPr lang="en-US" sz="1400" dirty="0">
                <a:solidFill>
                  <a:schemeClr val="accent5"/>
                </a:solidFill>
              </a:rPr>
              <a:t>Olist: only 169 baskets,</a:t>
            </a:r>
            <a:endParaRPr lang="en-US" sz="1400" dirty="0"/>
          </a:p>
          <a:p>
            <a:pPr indent="0" marL="0">
              <a:buNone/>
            </a:pPr>
            <a:r>
              <a:rPr lang="en-US" sz="1400" dirty="0">
                <a:solidFill>
                  <a:schemeClr val="accent5"/>
                </a:solidFill>
              </a:rPr>
              <a:t>too few to call</a:t>
            </a:r>
            <a:endParaRPr lang="en-US" sz="1400" dirty="0"/>
          </a:p>
        </p:txBody>
      </p:sp>
      <p:sp>
        <p:nvSpPr>
          <p:cNvPr id="11" name="Text 8"/>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5"/>
                </a:solidFill>
              </a:rPr>
              <a:t>Pre-set success rule: win on most datasets with 1,000+ test baskets. Passed (2 of 3 public, 3 of 4 with UCI).</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One loss, diagnosed and fixed</a:t>
            </a:r>
            <a:endParaRPr lang="en-US" sz="34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800" dirty="0">
                <a:solidFill>
                  <a:schemeClr val="tx1"/>
                </a:solidFill>
              </a:rPr>
              <a:t>Instacart shoppers mostly re-buy. Our shortlist filled up before their past purchases got in.</a:t>
            </a:r>
            <a:endParaRPr lang="en-US" sz="1800" dirty="0"/>
          </a:p>
        </p:txBody>
      </p:sp>
      <p:sp>
        <p:nvSpPr>
          <p:cNvPr id="4" name="fix card 1"/>
          <p:cNvSpPr/>
          <p:nvPr/>
        </p:nvSpPr>
        <p:spPr>
          <a:xfrm>
            <a:off x="548640" y="2103120"/>
            <a:ext cx="11064240" cy="1463040"/>
          </a:xfrm>
          <a:prstGeom prst="roundRect">
            <a:avLst>
              <a:gd name="adj" fmla="val 7500"/>
            </a:avLst>
          </a:prstGeom>
          <a:solidFill>
            <a:schemeClr val="bg2"/>
          </a:solidFill>
          <a:ln/>
        </p:spPr>
      </p:sp>
      <p:sp>
        <p:nvSpPr>
          <p:cNvPr id="5" name="Text 3"/>
          <p:cNvSpPr txBox="1"/>
          <p:nvPr/>
        </p:nvSpPr>
        <p:spPr>
          <a:xfrm>
            <a:off x="868680" y="2286000"/>
            <a:ext cx="3840480" cy="10972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Shortlist contains the item</a:t>
            </a:r>
            <a:endParaRPr lang="en-US" sz="2000" dirty="0"/>
          </a:p>
        </p:txBody>
      </p:sp>
      <p:sp>
        <p:nvSpPr>
          <p:cNvPr id="6" name="Text 4"/>
          <p:cNvSpPr txBox="1"/>
          <p:nvPr/>
        </p:nvSpPr>
        <p:spPr>
          <a:xfrm>
            <a:off x="4846320" y="2286000"/>
            <a:ext cx="2377440" cy="1097280"/>
          </a:xfrm>
          <a:prstGeom prst="rect">
            <a:avLst/>
          </a:prstGeom>
          <a:noFill/>
          <a:ln/>
        </p:spPr>
        <p:txBody>
          <a:bodyPr wrap="square" lIns="0" tIns="0" rIns="0" bIns="0" rtlCol="0" anchor="ctr"/>
          <a:lstStyle/>
          <a:p>
            <a:pPr algn="ctr" indent="0" marL="0">
              <a:buNone/>
            </a:pPr>
            <a:r>
              <a:rPr lang="en-US" sz="4800" b="1" dirty="0">
                <a:solidFill>
                  <a:schemeClr val="accent4"/>
                </a:solidFill>
                <a:latin typeface="Cambria" pitchFamily="34" charset="0"/>
                <a:ea typeface="Cambria" pitchFamily="34" charset="-122"/>
                <a:cs typeface="Cambria" pitchFamily="34" charset="-120"/>
              </a:rPr>
              <a:t>51.7%</a:t>
            </a:r>
            <a:endParaRPr lang="en-US" sz="4800" dirty="0"/>
          </a:p>
        </p:txBody>
      </p:sp>
      <p:sp>
        <p:nvSpPr>
          <p:cNvPr id="7" name="arrow fix 1"/>
          <p:cNvSpPr/>
          <p:nvPr/>
        </p:nvSpPr>
        <p:spPr>
          <a:xfrm>
            <a:off x="7360920" y="2606040"/>
            <a:ext cx="914400" cy="457200"/>
          </a:xfrm>
          <a:prstGeom prst="rightArrow">
            <a:avLst/>
          </a:prstGeom>
          <a:solidFill>
            <a:schemeClr val="accent3"/>
          </a:solidFill>
          <a:ln/>
        </p:spPr>
      </p:sp>
      <p:sp>
        <p:nvSpPr>
          <p:cNvPr id="8" name="Text 6"/>
          <p:cNvSpPr txBox="1"/>
          <p:nvPr/>
        </p:nvSpPr>
        <p:spPr>
          <a:xfrm>
            <a:off x="8412480" y="2286000"/>
            <a:ext cx="2651760" cy="1097280"/>
          </a:xfrm>
          <a:prstGeom prst="rect">
            <a:avLst/>
          </a:prstGeom>
          <a:noFill/>
          <a:ln/>
        </p:spPr>
        <p:txBody>
          <a:bodyPr wrap="square" lIns="0" tIns="0" rIns="0" bIns="0" rtlCol="0" anchor="ctr"/>
          <a:lstStyle/>
          <a:p>
            <a:pPr algn="ctr" indent="0" marL="0">
              <a:buNone/>
            </a:pPr>
            <a:r>
              <a:rPr lang="en-US" sz="4800" b="1" dirty="0">
                <a:solidFill>
                  <a:schemeClr val="accent1"/>
                </a:solidFill>
                <a:latin typeface="Cambria" pitchFamily="34" charset="0"/>
                <a:ea typeface="Cambria" pitchFamily="34" charset="-122"/>
                <a:cs typeface="Cambria" pitchFamily="34" charset="-120"/>
              </a:rPr>
              <a:t>70.1%</a:t>
            </a:r>
            <a:endParaRPr lang="en-US" sz="4800" dirty="0"/>
          </a:p>
        </p:txBody>
      </p:sp>
      <p:sp>
        <p:nvSpPr>
          <p:cNvPr id="9" name="fix card 2"/>
          <p:cNvSpPr/>
          <p:nvPr/>
        </p:nvSpPr>
        <p:spPr>
          <a:xfrm>
            <a:off x="548640" y="3794760"/>
            <a:ext cx="11064240" cy="1463040"/>
          </a:xfrm>
          <a:prstGeom prst="roundRect">
            <a:avLst>
              <a:gd name="adj" fmla="val 7500"/>
            </a:avLst>
          </a:prstGeom>
          <a:solidFill>
            <a:schemeClr val="bg2"/>
          </a:solidFill>
          <a:ln/>
        </p:spPr>
      </p:sp>
      <p:sp>
        <p:nvSpPr>
          <p:cNvPr id="10" name="Text 8"/>
          <p:cNvSpPr txBox="1"/>
          <p:nvPr/>
        </p:nvSpPr>
        <p:spPr>
          <a:xfrm>
            <a:off x="868680" y="3977640"/>
            <a:ext cx="3840480" cy="109728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Hit@10 vs repeat-purchase baseline</a:t>
            </a:r>
            <a:endParaRPr lang="en-US" sz="2000" dirty="0"/>
          </a:p>
        </p:txBody>
      </p:sp>
      <p:sp>
        <p:nvSpPr>
          <p:cNvPr id="11" name="Text 9"/>
          <p:cNvSpPr txBox="1"/>
          <p:nvPr/>
        </p:nvSpPr>
        <p:spPr>
          <a:xfrm>
            <a:off x="4846320" y="3977640"/>
            <a:ext cx="2377440" cy="1097280"/>
          </a:xfrm>
          <a:prstGeom prst="rect">
            <a:avLst/>
          </a:prstGeom>
          <a:noFill/>
          <a:ln/>
        </p:spPr>
        <p:txBody>
          <a:bodyPr wrap="square" lIns="0" tIns="0" rIns="0" bIns="0" rtlCol="0" anchor="ctr"/>
          <a:lstStyle/>
          <a:p>
            <a:pPr algn="ctr" indent="0" marL="0">
              <a:buNone/>
            </a:pPr>
            <a:r>
              <a:rPr lang="en-US" sz="4800" b="1" dirty="0">
                <a:solidFill>
                  <a:schemeClr val="accent4"/>
                </a:solidFill>
                <a:latin typeface="Cambria" pitchFamily="34" charset="0"/>
                <a:ea typeface="Cambria" pitchFamily="34" charset="-122"/>
                <a:cs typeface="Cambria" pitchFamily="34" charset="-120"/>
              </a:rPr>
              <a:t>−3.0</a:t>
            </a:r>
            <a:endParaRPr lang="en-US" sz="4800" dirty="0"/>
          </a:p>
        </p:txBody>
      </p:sp>
      <p:sp>
        <p:nvSpPr>
          <p:cNvPr id="12" name="arrow fix 2"/>
          <p:cNvSpPr/>
          <p:nvPr/>
        </p:nvSpPr>
        <p:spPr>
          <a:xfrm>
            <a:off x="7360920" y="4297680"/>
            <a:ext cx="914400" cy="457200"/>
          </a:xfrm>
          <a:prstGeom prst="rightArrow">
            <a:avLst/>
          </a:prstGeom>
          <a:solidFill>
            <a:schemeClr val="accent3"/>
          </a:solidFill>
          <a:ln/>
        </p:spPr>
      </p:sp>
      <p:sp>
        <p:nvSpPr>
          <p:cNvPr id="13" name="Text 11"/>
          <p:cNvSpPr txBox="1"/>
          <p:nvPr/>
        </p:nvSpPr>
        <p:spPr>
          <a:xfrm>
            <a:off x="8412480" y="3977640"/>
            <a:ext cx="2651760" cy="1097280"/>
          </a:xfrm>
          <a:prstGeom prst="rect">
            <a:avLst/>
          </a:prstGeom>
          <a:noFill/>
          <a:ln/>
        </p:spPr>
        <p:txBody>
          <a:bodyPr wrap="square" lIns="0" tIns="0" rIns="0" bIns="0" rtlCol="0" anchor="ctr"/>
          <a:lstStyle/>
          <a:p>
            <a:pPr algn="ctr" indent="0" marL="0">
              <a:buNone/>
            </a:pPr>
            <a:r>
              <a:rPr lang="en-US" sz="4800" b="1" dirty="0">
                <a:solidFill>
                  <a:schemeClr val="accent1"/>
                </a:solidFill>
                <a:latin typeface="Cambria" pitchFamily="34" charset="0"/>
                <a:ea typeface="Cambria" pitchFamily="34" charset="-122"/>
                <a:cs typeface="Cambria" pitchFamily="34" charset="-120"/>
              </a:rPr>
              <a:t>+4.1</a:t>
            </a:r>
            <a:endParaRPr lang="en-US" sz="4800" dirty="0"/>
          </a:p>
        </p:txBody>
      </p:sp>
      <p:sp>
        <p:nvSpPr>
          <p:cNvPr id="14" name="Text 12"/>
          <p:cNvSpPr txBox="1"/>
          <p:nvPr/>
        </p:nvSpPr>
        <p:spPr>
          <a:xfrm>
            <a:off x="548640" y="5486400"/>
            <a:ext cx="11064240" cy="411480"/>
          </a:xfrm>
          <a:prstGeom prst="rect">
            <a:avLst/>
          </a:prstGeom>
          <a:noFill/>
          <a:ln/>
        </p:spPr>
        <p:txBody>
          <a:bodyPr wrap="square" lIns="0" tIns="0" rIns="0" bIns="0" rtlCol="0" anchor="t"/>
          <a:lstStyle/>
          <a:p>
            <a:pPr indent="0" marL="0">
              <a:buNone/>
            </a:pPr>
            <a:r>
              <a:rPr lang="en-US" sz="1700" b="1" dirty="0">
                <a:solidFill>
                  <a:schemeClr val="accent1"/>
                </a:solidFill>
              </a:rPr>
              <a:t>The fix: </a:t>
            </a:r>
            <a:pPr indent="0" marL="0">
              <a:buNone/>
            </a:pPr>
            <a:r>
              <a:rPr lang="en-US" sz="1700" dirty="0">
                <a:solidFill>
                  <a:schemeClr val="tx1"/>
                </a:solidFill>
              </a:rPr>
              <a:t>put the shopper's past purchases first. Dunnhumby gains too: +7.8 → +9.8 pts.</a:t>
            </a:r>
            <a:endParaRPr lang="en-US" sz="1700" dirty="0"/>
          </a:p>
        </p:txBody>
      </p:sp>
      <p:sp>
        <p:nvSpPr>
          <p:cNvPr id="15" name="Text 13"/>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5"/>
                </a:solidFill>
              </a:rPr>
              <a:t>Fix chosen from the diagnosis and checked on validation first. The −3.0 stays the official result.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More profit per basket on every store with prices</a:t>
            </a:r>
            <a:endParaRPr lang="en-US" sz="3400" dirty="0"/>
          </a:p>
        </p:txBody>
      </p:sp>
      <p:sp>
        <p:nvSpPr>
          <p:cNvPr id="3" name="Text 1"/>
          <p:cNvSpPr txBox="1"/>
          <p:nvPr/>
        </p:nvSpPr>
        <p:spPr>
          <a:xfrm>
            <a:off x="548640" y="1371600"/>
            <a:ext cx="6949440" cy="365760"/>
          </a:xfrm>
          <a:prstGeom prst="rect">
            <a:avLst/>
          </a:prstGeom>
          <a:noFill/>
          <a:ln/>
        </p:spPr>
        <p:txBody>
          <a:bodyPr wrap="square" lIns="0" tIns="0" rIns="0" bIns="0" rtlCol="0" anchor="t"/>
          <a:lstStyle/>
          <a:p>
            <a:pPr indent="0" marL="0">
              <a:buNone/>
            </a:pPr>
            <a:r>
              <a:rPr lang="en-US" sz="1400" b="1" dirty="0">
                <a:solidFill>
                  <a:schemeClr val="accent5"/>
                </a:solidFill>
              </a:rPr>
              <a:t>Profit per basket vs the ranker's top 2 (%), λ = 0.5, simulated cost</a:t>
            </a:r>
            <a:endParaRPr lang="en-US" sz="1400" dirty="0"/>
          </a:p>
        </p:txBody>
      </p:sp>
      <p:graphicFrame>
        <p:nvGraphicFramePr>
          <p:cNvPr id="4" name="profit chart" descr=""/>
          <p:cNvGraphicFramePr/>
          <p:nvPr/>
        </p:nvGraphicFramePr>
        <p:xfrm>
          <a:off x="548640" y="173736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046720" y="1737360"/>
            <a:ext cx="3566160" cy="86868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≈1 pt</a:t>
            </a:r>
            <a:endParaRPr lang="en-US" sz="5400" dirty="0"/>
          </a:p>
        </p:txBody>
      </p:sp>
      <p:sp>
        <p:nvSpPr>
          <p:cNvPr id="6" name="Text 3"/>
          <p:cNvSpPr txBox="1"/>
          <p:nvPr/>
        </p:nvSpPr>
        <p:spPr>
          <a:xfrm>
            <a:off x="8046720" y="2651760"/>
            <a:ext cx="3566160" cy="731520"/>
          </a:xfrm>
          <a:prstGeom prst="rect">
            <a:avLst/>
          </a:prstGeom>
          <a:noFill/>
          <a:ln/>
        </p:spPr>
        <p:txBody>
          <a:bodyPr wrap="square" lIns="0" tIns="0" rIns="0" bIns="0" rtlCol="0" anchor="t"/>
          <a:lstStyle/>
          <a:p>
            <a:pPr indent="0" marL="0">
              <a:buNone/>
            </a:pPr>
            <a:r>
              <a:rPr lang="en-US" sz="1400" dirty="0">
                <a:solidFill>
                  <a:schemeClr val="accent5"/>
                </a:solidFill>
              </a:rPr>
              <a:t>of hit rate traded for the gain</a:t>
            </a:r>
            <a:endParaRPr lang="en-US" sz="1400" dirty="0"/>
          </a:p>
          <a:p>
            <a:pPr indent="0" marL="0">
              <a:buNone/>
            </a:pPr>
            <a:r>
              <a:rPr lang="en-US" sz="1400" dirty="0">
                <a:solidFill>
                  <a:schemeClr val="accent5"/>
                </a:solidFill>
              </a:rPr>
              <a:t>(−1.1, −1.0, −1.1 pts)</a:t>
            </a:r>
            <a:endParaRPr lang="en-US" sz="1400" dirty="0"/>
          </a:p>
        </p:txBody>
      </p:sp>
      <p:sp>
        <p:nvSpPr>
          <p:cNvPr id="7" name="Text 4"/>
          <p:cNvSpPr txBox="1"/>
          <p:nvPr/>
        </p:nvSpPr>
        <p:spPr>
          <a:xfrm>
            <a:off x="8046720" y="3657600"/>
            <a:ext cx="3566160" cy="868680"/>
          </a:xfrm>
          <a:prstGeom prst="rect">
            <a:avLst/>
          </a:prstGeom>
          <a:noFill/>
          <a:ln/>
        </p:spPr>
        <p:txBody>
          <a:bodyPr wrap="square" lIns="0" tIns="0" rIns="0" bIns="0" rtlCol="0" anchor="b"/>
          <a:lstStyle/>
          <a:p>
            <a:pPr indent="0" marL="0">
              <a:buNone/>
            </a:pPr>
            <a:r>
              <a:rPr lang="en-US" sz="5400" b="1" dirty="0">
                <a:solidFill>
                  <a:schemeClr val="accent2"/>
                </a:solidFill>
                <a:latin typeface="Cambria" pitchFamily="34" charset="0"/>
                <a:ea typeface="Cambria" pitchFamily="34" charset="-122"/>
                <a:cs typeface="Cambria" pitchFamily="34" charset="-120"/>
              </a:rPr>
              <a:t>600/600</a:t>
            </a:r>
            <a:endParaRPr lang="en-US" sz="5400" dirty="0"/>
          </a:p>
        </p:txBody>
      </p:sp>
      <p:sp>
        <p:nvSpPr>
          <p:cNvPr id="8" name="Text 5"/>
          <p:cNvSpPr txBox="1"/>
          <p:nvPr/>
        </p:nvSpPr>
        <p:spPr>
          <a:xfrm>
            <a:off x="8046720" y="4572000"/>
            <a:ext cx="3566160" cy="731520"/>
          </a:xfrm>
          <a:prstGeom prst="rect">
            <a:avLst/>
          </a:prstGeom>
          <a:noFill/>
          <a:ln/>
        </p:spPr>
        <p:txBody>
          <a:bodyPr wrap="square" lIns="0" tIns="0" rIns="0" bIns="0" rtlCol="0" anchor="t"/>
          <a:lstStyle/>
          <a:p>
            <a:pPr indent="0" marL="0">
              <a:buNone/>
            </a:pPr>
            <a:r>
              <a:rPr lang="en-US" sz="1400" dirty="0">
                <a:solidFill>
                  <a:schemeClr val="accent5"/>
                </a:solidFill>
              </a:rPr>
              <a:t>optimizer answers match</a:t>
            </a:r>
            <a:endParaRPr lang="en-US" sz="1400" dirty="0"/>
          </a:p>
          <a:p>
            <a:pPr indent="0" marL="0">
              <a:buNone/>
            </a:pPr>
            <a:r>
              <a:rPr lang="en-US" sz="1400" dirty="0">
                <a:solidFill>
                  <a:schemeClr val="accent5"/>
                </a:solidFill>
              </a:rPr>
              <a:t>brute force, ~3 ms each</a:t>
            </a:r>
            <a:endParaRPr lang="en-US" sz="1400" dirty="0"/>
          </a:p>
        </p:txBody>
      </p:sp>
      <p:sp>
        <p:nvSpPr>
          <p:cNvPr id="9" name="Text 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5"/>
                </a:solidFill>
              </a:rPr>
              <a:t>Simulated: the datasets have prices but no unit cost or stock. Instacart has no prices, so it has no profit result.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30 days in a simulated store</a:t>
            </a:r>
            <a:endParaRPr lang="en-US" sz="3400" dirty="0"/>
          </a:p>
        </p:txBody>
      </p:sp>
      <p:sp>
        <p:nvSpPr>
          <p:cNvPr id="3" name="Text 1"/>
          <p:cNvSpPr txBox="1"/>
          <p:nvPr/>
        </p:nvSpPr>
        <p:spPr>
          <a:xfrm>
            <a:off x="548640" y="1371600"/>
            <a:ext cx="7132320" cy="365760"/>
          </a:xfrm>
          <a:prstGeom prst="rect">
            <a:avLst/>
          </a:prstGeom>
          <a:noFill/>
          <a:ln/>
        </p:spPr>
        <p:txBody>
          <a:bodyPr wrap="square" lIns="0" tIns="0" rIns="0" bIns="0" rtlCol="0" anchor="t"/>
          <a:lstStyle/>
          <a:p>
            <a:pPr indent="0" marL="0">
              <a:buNone/>
            </a:pPr>
            <a:r>
              <a:rPr lang="en-US" sz="1400" b="1" dirty="0">
                <a:solidFill>
                  <a:schemeClr val="accent5"/>
                </a:solidFill>
              </a:rPr>
              <a:t>Cumulative add-on profit (£), 4,480 real checkouts replayed</a:t>
            </a:r>
            <a:endParaRPr lang="en-US" sz="1400" dirty="0"/>
          </a:p>
        </p:txBody>
      </p:sp>
      <p:graphicFrame>
        <p:nvGraphicFramePr>
          <p:cNvPr id="4" name="store simulation chart" descr=""/>
          <p:cNvGraphicFramePr/>
          <p:nvPr/>
        </p:nvGraphicFramePr>
        <p:xfrm>
          <a:off x="548640" y="1737360"/>
          <a:ext cx="7132320" cy="41148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138160" y="1554480"/>
            <a:ext cx="3474720" cy="868680"/>
          </a:xfrm>
          <a:prstGeom prst="rect">
            <a:avLst/>
          </a:prstGeom>
          <a:noFill/>
          <a:ln/>
        </p:spPr>
        <p:txBody>
          <a:bodyPr wrap="square" lIns="0" tIns="0" rIns="0" bIns="0" rtlCol="0" anchor="b"/>
          <a:lstStyle/>
          <a:p>
            <a:pPr indent="0" marL="0">
              <a:buNone/>
            </a:pPr>
            <a:r>
              <a:rPr lang="en-US" sz="5000" b="1" dirty="0">
                <a:solidFill>
                  <a:schemeClr val="accent1"/>
                </a:solidFill>
                <a:latin typeface="Cambria" pitchFamily="34" charset="0"/>
                <a:ea typeface="Cambria" pitchFamily="34" charset="-122"/>
                <a:cs typeface="Cambria" pitchFamily="34" charset="-120"/>
              </a:rPr>
              <a:t>£1,141</a:t>
            </a:r>
            <a:endParaRPr lang="en-US" sz="5000" dirty="0"/>
          </a:p>
        </p:txBody>
      </p:sp>
      <p:sp>
        <p:nvSpPr>
          <p:cNvPr id="6" name="Text 3"/>
          <p:cNvSpPr txBox="1"/>
          <p:nvPr/>
        </p:nvSpPr>
        <p:spPr>
          <a:xfrm>
            <a:off x="8138160" y="2468880"/>
            <a:ext cx="3474720" cy="731520"/>
          </a:xfrm>
          <a:prstGeom prst="rect">
            <a:avLst/>
          </a:prstGeom>
          <a:noFill/>
          <a:ln/>
        </p:spPr>
        <p:txBody>
          <a:bodyPr wrap="square" lIns="0" tIns="0" rIns="0" bIns="0" rtlCol="0" anchor="t"/>
          <a:lstStyle/>
          <a:p>
            <a:pPr indent="0" marL="0">
              <a:buNone/>
            </a:pPr>
            <a:r>
              <a:rPr lang="en-US" sz="1400" dirty="0">
                <a:solidFill>
                  <a:schemeClr val="accent5"/>
                </a:solidFill>
              </a:rPr>
              <a:t>vs £920 for the ranker alone</a:t>
            </a:r>
            <a:endParaRPr lang="en-US" sz="1400" dirty="0"/>
          </a:p>
          <a:p>
            <a:pPr indent="0" marL="0">
              <a:buNone/>
            </a:pPr>
            <a:r>
              <a:rPr lang="en-US" sz="1400" dirty="0">
                <a:solidFill>
                  <a:schemeClr val="accent5"/>
                </a:solidFill>
              </a:rPr>
              <a:t>+24% (+19% over 5 random seeds)</a:t>
            </a:r>
            <a:endParaRPr lang="en-US" sz="1400" dirty="0"/>
          </a:p>
        </p:txBody>
      </p:sp>
      <p:sp>
        <p:nvSpPr>
          <p:cNvPr id="7" name="Text 4"/>
          <p:cNvSpPr txBox="1"/>
          <p:nvPr/>
        </p:nvSpPr>
        <p:spPr>
          <a:xfrm>
            <a:off x="8138160" y="3154680"/>
            <a:ext cx="3474720" cy="868680"/>
          </a:xfrm>
          <a:prstGeom prst="rect">
            <a:avLst/>
          </a:prstGeom>
          <a:noFill/>
          <a:ln/>
        </p:spPr>
        <p:txBody>
          <a:bodyPr wrap="square" lIns="0" tIns="0" rIns="0" bIns="0" rtlCol="0" anchor="b"/>
          <a:lstStyle/>
          <a:p>
            <a:pPr indent="0" marL="0">
              <a:buNone/>
            </a:pPr>
            <a:r>
              <a:rPr lang="en-US" sz="4400" b="1" dirty="0">
                <a:solidFill>
                  <a:schemeClr val="accent2"/>
                </a:solidFill>
                <a:latin typeface="Cambria" pitchFamily="34" charset="0"/>
                <a:ea typeface="Cambria" pitchFamily="34" charset="-122"/>
                <a:cs typeface="Cambria" pitchFamily="34" charset="-120"/>
              </a:rPr>
              <a:t>0 vs 164</a:t>
            </a:r>
            <a:endParaRPr lang="en-US" sz="4400" dirty="0"/>
          </a:p>
        </p:txBody>
      </p:sp>
      <p:sp>
        <p:nvSpPr>
          <p:cNvPr id="8" name="Text 5"/>
          <p:cNvSpPr txBox="1"/>
          <p:nvPr/>
        </p:nvSpPr>
        <p:spPr>
          <a:xfrm>
            <a:off x="8138160" y="4069080"/>
            <a:ext cx="3474720" cy="731520"/>
          </a:xfrm>
          <a:prstGeom prst="rect">
            <a:avLst/>
          </a:prstGeom>
          <a:noFill/>
          <a:ln/>
        </p:spPr>
        <p:txBody>
          <a:bodyPr wrap="square" lIns="0" tIns="0" rIns="0" bIns="0" rtlCol="0" anchor="t"/>
          <a:lstStyle/>
          <a:p>
            <a:pPr indent="0" marL="0">
              <a:buNone/>
            </a:pPr>
            <a:r>
              <a:rPr lang="en-US" sz="1400" dirty="0">
                <a:solidFill>
                  <a:schemeClr val="accent5"/>
                </a:solidFill>
              </a:rPr>
              <a:t>offers below the 15% margin floor</a:t>
            </a:r>
            <a:endParaRPr lang="en-US" sz="1400" dirty="0"/>
          </a:p>
        </p:txBody>
      </p:sp>
      <p:sp>
        <p:nvSpPr>
          <p:cNvPr id="9" name="Text 6"/>
          <p:cNvSpPr txBox="1"/>
          <p:nvPr/>
        </p:nvSpPr>
        <p:spPr>
          <a:xfrm>
            <a:off x="8138160" y="4526280"/>
            <a:ext cx="3474720" cy="868680"/>
          </a:xfrm>
          <a:prstGeom prst="rect">
            <a:avLst/>
          </a:prstGeom>
          <a:noFill/>
          <a:ln/>
        </p:spPr>
        <p:txBody>
          <a:bodyPr wrap="square" lIns="0" tIns="0" rIns="0" bIns="0" rtlCol="0" anchor="b"/>
          <a:lstStyle/>
          <a:p>
            <a:pPr indent="0" marL="0">
              <a:buNone/>
            </a:pPr>
            <a:r>
              <a:rPr lang="en-US" sz="3600" b="1" dirty="0">
                <a:solidFill>
                  <a:schemeClr val="accent5"/>
                </a:solidFill>
                <a:latin typeface="Cambria" pitchFamily="34" charset="0"/>
                <a:ea typeface="Cambria" pitchFamily="34" charset="-122"/>
                <a:cs typeface="Cambria" pitchFamily="34" charset="-120"/>
              </a:rPr>
              <a:t>7.5% vs 8.9%</a:t>
            </a:r>
            <a:endParaRPr lang="en-US" sz="3600" dirty="0"/>
          </a:p>
        </p:txBody>
      </p:sp>
      <p:sp>
        <p:nvSpPr>
          <p:cNvPr id="10" name="Text 7"/>
          <p:cNvSpPr txBox="1"/>
          <p:nvPr/>
        </p:nvSpPr>
        <p:spPr>
          <a:xfrm>
            <a:off x="8138160" y="5440680"/>
            <a:ext cx="3474720" cy="731520"/>
          </a:xfrm>
          <a:prstGeom prst="rect">
            <a:avLst/>
          </a:prstGeom>
          <a:noFill/>
          <a:ln/>
        </p:spPr>
        <p:txBody>
          <a:bodyPr wrap="square" lIns="0" tIns="0" rIns="0" bIns="0" rtlCol="0" anchor="t"/>
          <a:lstStyle/>
          <a:p>
            <a:pPr indent="0" marL="0">
              <a:buNone/>
            </a:pPr>
            <a:r>
              <a:rPr lang="en-US" sz="1400" dirty="0">
                <a:solidFill>
                  <a:schemeClr val="accent5"/>
                </a:solidFill>
              </a:rPr>
              <a:t>accept rate: fewer add-ons taken,</a:t>
            </a:r>
            <a:endParaRPr lang="en-US" sz="1400" dirty="0"/>
          </a:p>
          <a:p>
            <a:pPr indent="0" marL="0">
              <a:buNone/>
            </a:pPr>
            <a:r>
              <a:rPr lang="en-US" sz="1400" dirty="0">
                <a:solidFill>
                  <a:schemeClr val="accent5"/>
                </a:solidFill>
              </a:rPr>
              <a:t>each one earns more</a:t>
            </a:r>
            <a:endParaRPr lang="en-US" sz="1400" dirty="0"/>
          </a:p>
        </p:txBody>
      </p:sp>
      <p:sp>
        <p:nvSpPr>
          <p:cNvPr id="11" name="Text 8"/>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5"/>
                </a:solidFill>
              </a:rPr>
              <a:t>Real checkouts and real choices; unit cost and stock are simulated, weekly restock. Not a forecast of real-store profit.</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Thin-margin grocers need their own floor</a:t>
            </a:r>
            <a:endParaRPr lang="en-US" sz="3400" dirty="0"/>
          </a:p>
        </p:txBody>
      </p:sp>
      <p:sp>
        <p:nvSpPr>
          <p:cNvPr id="3" name="Text 1"/>
          <p:cNvSpPr txBox="1"/>
          <p:nvPr/>
        </p:nvSpPr>
        <p:spPr>
          <a:xfrm>
            <a:off x="548640" y="1371600"/>
            <a:ext cx="11064240" cy="457200"/>
          </a:xfrm>
          <a:prstGeom prst="rect">
            <a:avLst/>
          </a:prstGeom>
          <a:noFill/>
          <a:ln/>
        </p:spPr>
        <p:txBody>
          <a:bodyPr wrap="square" lIns="0" tIns="0" rIns="0" bIns="0" rtlCol="0" anchor="t"/>
          <a:lstStyle/>
          <a:p>
            <a:pPr indent="0" marL="0">
              <a:buNone/>
            </a:pPr>
            <a:r>
              <a:rPr lang="en-US" sz="1800" dirty="0">
                <a:solidFill>
                  <a:schemeClr val="tx1"/>
                </a:solidFill>
              </a:rPr>
              <a:t>Ta Feng ships a cost-like field. Read as real cost, only 76% of products clear a 15% margin.</a:t>
            </a:r>
            <a:endParaRPr lang="en-US" sz="1800" dirty="0"/>
          </a:p>
        </p:txBody>
      </p:sp>
      <p:sp>
        <p:nvSpPr>
          <p:cNvPr id="4" name="Text 2"/>
          <p:cNvSpPr txBox="1"/>
          <p:nvPr/>
        </p:nvSpPr>
        <p:spPr>
          <a:xfrm>
            <a:off x="548640" y="2011680"/>
            <a:ext cx="6035040" cy="365760"/>
          </a:xfrm>
          <a:prstGeom prst="rect">
            <a:avLst/>
          </a:prstGeom>
          <a:noFill/>
          <a:ln/>
        </p:spPr>
        <p:txBody>
          <a:bodyPr wrap="square" lIns="0" tIns="0" rIns="0" bIns="0" rtlCol="0" anchor="t"/>
          <a:lstStyle/>
          <a:p>
            <a:pPr indent="0" marL="0">
              <a:buNone/>
            </a:pPr>
            <a:r>
              <a:rPr lang="en-US" sz="1400" b="1" dirty="0">
                <a:solidFill>
                  <a:schemeClr val="accent5"/>
                </a:solidFill>
              </a:rPr>
              <a:t>Hit@2 (%), Taiwan grocery, cost-like field as cost</a:t>
            </a:r>
            <a:endParaRPr lang="en-US" sz="1400" dirty="0"/>
          </a:p>
        </p:txBody>
      </p:sp>
      <p:graphicFrame>
        <p:nvGraphicFramePr>
          <p:cNvPr id="5" name="Ta Feng floor chart" descr=""/>
          <p:cNvGraphicFramePr/>
          <p:nvPr/>
        </p:nvGraphicFramePr>
        <p:xfrm>
          <a:off x="548640" y="2377440"/>
          <a:ext cx="6035040" cy="3474720"/>
        </p:xfrm>
        <a:graphic xmlns:a="http://schemas.openxmlformats.org/drawingml/2006/main">
          <a:graphicData uri="http://schemas.openxmlformats.org/drawingml/2006/chart">
            <c:chart xmlns:c="http://schemas.openxmlformats.org/drawingml/2006/chart" r:id="rId1"/>
          </a:graphicData>
        </a:graphic>
      </p:graphicFrame>
      <p:sp>
        <p:nvSpPr>
          <p:cNvPr id="6" name="Text 3"/>
          <p:cNvSpPr txBox="1"/>
          <p:nvPr/>
        </p:nvSpPr>
        <p:spPr>
          <a:xfrm>
            <a:off x="7132320" y="2011680"/>
            <a:ext cx="4480560" cy="868680"/>
          </a:xfrm>
          <a:prstGeom prst="rect">
            <a:avLst/>
          </a:prstGeom>
          <a:noFill/>
          <a:ln/>
        </p:spPr>
        <p:txBody>
          <a:bodyPr wrap="square" lIns="0" tIns="0" rIns="0" bIns="0" rtlCol="0" anchor="b"/>
          <a:lstStyle/>
          <a:p>
            <a:pPr indent="0" marL="0">
              <a:buNone/>
            </a:pPr>
            <a:r>
              <a:rPr lang="en-US" sz="5400" b="1" dirty="0">
                <a:solidFill>
                  <a:schemeClr val="accent4"/>
                </a:solidFill>
                <a:latin typeface="Cambria" pitchFamily="34" charset="0"/>
                <a:ea typeface="Cambria" pitchFamily="34" charset="-122"/>
                <a:cs typeface="Cambria" pitchFamily="34" charset="-120"/>
              </a:rPr>
              <a:t>+25%</a:t>
            </a:r>
            <a:endParaRPr lang="en-US" sz="5400" dirty="0"/>
          </a:p>
        </p:txBody>
      </p:sp>
      <p:sp>
        <p:nvSpPr>
          <p:cNvPr id="7" name="Text 4"/>
          <p:cNvSpPr txBox="1"/>
          <p:nvPr/>
        </p:nvSpPr>
        <p:spPr>
          <a:xfrm>
            <a:off x="7132320" y="2926080"/>
            <a:ext cx="4480560" cy="731520"/>
          </a:xfrm>
          <a:prstGeom prst="rect">
            <a:avLst/>
          </a:prstGeom>
          <a:noFill/>
          <a:ln/>
        </p:spPr>
        <p:txBody>
          <a:bodyPr wrap="square" lIns="0" tIns="0" rIns="0" bIns="0" rtlCol="0" anchor="t"/>
          <a:lstStyle/>
          <a:p>
            <a:pPr indent="0" marL="0">
              <a:buNone/>
            </a:pPr>
            <a:r>
              <a:rPr lang="en-US" sz="1400" dirty="0">
                <a:solidFill>
                  <a:schemeClr val="accent5"/>
                </a:solidFill>
              </a:rPr>
              <a:t>profit per basket with the item floor,</a:t>
            </a:r>
            <a:endParaRPr lang="en-US" sz="1400" dirty="0"/>
          </a:p>
          <a:p>
            <a:pPr indent="0" marL="0">
              <a:buNone/>
            </a:pPr>
            <a:r>
              <a:rPr lang="en-US" sz="1400" dirty="0">
                <a:solidFill>
                  <a:schemeClr val="accent5"/>
                </a:solidFill>
              </a:rPr>
              <a:t>but the hit rate halves</a:t>
            </a:r>
            <a:endParaRPr lang="en-US" sz="1400" dirty="0"/>
          </a:p>
        </p:txBody>
      </p:sp>
      <p:sp>
        <p:nvSpPr>
          <p:cNvPr id="8" name="Text 5"/>
          <p:cNvSpPr txBox="1"/>
          <p:nvPr/>
        </p:nvSpPr>
        <p:spPr>
          <a:xfrm>
            <a:off x="7132320" y="3840480"/>
            <a:ext cx="4480560" cy="868680"/>
          </a:xfrm>
          <a:prstGeom prst="rect">
            <a:avLst/>
          </a:prstGeom>
          <a:noFill/>
          <a:ln/>
        </p:spPr>
        <p:txBody>
          <a:bodyPr wrap="square" lIns="0" tIns="0" rIns="0" bIns="0" rtlCol="0" anchor="b"/>
          <a:lstStyle/>
          <a:p>
            <a:pPr indent="0" marL="0">
              <a:buNone/>
            </a:pPr>
            <a:r>
              <a:rPr lang="en-US" sz="5400" b="1" dirty="0">
                <a:solidFill>
                  <a:schemeClr val="accent1"/>
                </a:solidFill>
                <a:latin typeface="Cambria" pitchFamily="34" charset="0"/>
                <a:ea typeface="Cambria" pitchFamily="34" charset="-122"/>
                <a:cs typeface="Cambria" pitchFamily="34" charset="-120"/>
              </a:rPr>
              <a:t>+38%</a:t>
            </a:r>
            <a:endParaRPr lang="en-US" sz="5400" dirty="0"/>
          </a:p>
        </p:txBody>
      </p:sp>
      <p:sp>
        <p:nvSpPr>
          <p:cNvPr id="9" name="Text 6"/>
          <p:cNvSpPr txBox="1"/>
          <p:nvPr/>
        </p:nvSpPr>
        <p:spPr>
          <a:xfrm>
            <a:off x="7132320" y="4754880"/>
            <a:ext cx="4480560" cy="731520"/>
          </a:xfrm>
          <a:prstGeom prst="rect">
            <a:avLst/>
          </a:prstGeom>
          <a:noFill/>
          <a:ln/>
        </p:spPr>
        <p:txBody>
          <a:bodyPr wrap="square" lIns="0" tIns="0" rIns="0" bIns="0" rtlCol="0" anchor="t"/>
          <a:lstStyle/>
          <a:p>
            <a:pPr indent="0" marL="0">
              <a:buNone/>
            </a:pPr>
            <a:r>
              <a:rPr lang="en-US" sz="1400" dirty="0">
                <a:solidFill>
                  <a:schemeClr val="accent5"/>
                </a:solidFill>
              </a:rPr>
              <a:t>profit with a bundle floor,</a:t>
            </a:r>
            <a:endParaRPr lang="en-US" sz="1400" dirty="0"/>
          </a:p>
          <a:p>
            <a:pPr indent="0" marL="0">
              <a:buNone/>
            </a:pPr>
            <a:r>
              <a:rPr lang="en-US" sz="1400" dirty="0">
                <a:solidFill>
                  <a:schemeClr val="accent5"/>
                </a:solidFill>
              </a:rPr>
              <a:t>and more hits back</a:t>
            </a:r>
            <a:endParaRPr lang="en-US" sz="1400" dirty="0"/>
          </a:p>
        </p:txBody>
      </p:sp>
      <p:sp>
        <p:nvSpPr>
          <p:cNvPr id="10" name="Text 7"/>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5"/>
                </a:solidFill>
              </a:rPr>
              <a:t>The field (ASSET) is undocumented; reading it as unit cost is our assumption. Lesson: set the floor per store, or on the bundle.</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We tested LLM ranking. The trained model won</a:t>
            </a:r>
            <a:endParaRPr lang="en-US" sz="3400" dirty="0"/>
          </a:p>
        </p:txBody>
      </p:sp>
      <p:sp>
        <p:nvSpPr>
          <p:cNvPr id="3" name="Text 1"/>
          <p:cNvSpPr txBox="1"/>
          <p:nvPr/>
        </p:nvSpPr>
        <p:spPr>
          <a:xfrm>
            <a:off x="548640" y="1371600"/>
            <a:ext cx="6949440" cy="365760"/>
          </a:xfrm>
          <a:prstGeom prst="rect">
            <a:avLst/>
          </a:prstGeom>
          <a:noFill/>
          <a:ln/>
        </p:spPr>
        <p:txBody>
          <a:bodyPr wrap="square" lIns="0" tIns="0" rIns="0" bIns="0" rtlCol="0" anchor="t"/>
          <a:lstStyle/>
          <a:p>
            <a:pPr indent="0" marL="0">
              <a:buNone/>
            </a:pPr>
            <a:r>
              <a:rPr lang="en-US" sz="1400" b="1" dirty="0">
                <a:solidFill>
                  <a:schemeClr val="accent5"/>
                </a:solidFill>
              </a:rPr>
              <a:t>Hit@5 (%), same 1,000 baskets and shortlists</a:t>
            </a:r>
            <a:endParaRPr lang="en-US" sz="1400" dirty="0"/>
          </a:p>
        </p:txBody>
      </p:sp>
      <p:graphicFrame>
        <p:nvGraphicFramePr>
          <p:cNvPr id="4" name="LLM chart" descr=""/>
          <p:cNvGraphicFramePr/>
          <p:nvPr/>
        </p:nvGraphicFramePr>
        <p:xfrm>
          <a:off x="548640" y="1737360"/>
          <a:ext cx="6949440" cy="4114800"/>
        </p:xfrm>
        <a:graphic xmlns:a="http://schemas.openxmlformats.org/drawingml/2006/main">
          <a:graphicData uri="http://schemas.openxmlformats.org/drawingml/2006/chart">
            <c:chart xmlns:c="http://schemas.openxmlformats.org/drawingml/2006/chart" r:id="rId1"/>
          </a:graphicData>
        </a:graphic>
      </p:graphicFrame>
      <p:sp>
        <p:nvSpPr>
          <p:cNvPr id="5" name="LLM role card"/>
          <p:cNvSpPr/>
          <p:nvPr/>
        </p:nvSpPr>
        <p:spPr>
          <a:xfrm>
            <a:off x="8046720" y="1737360"/>
            <a:ext cx="3566160" cy="4114800"/>
          </a:xfrm>
          <a:prstGeom prst="roundRect">
            <a:avLst>
              <a:gd name="adj" fmla="val 3077"/>
            </a:avLst>
          </a:prstGeom>
          <a:solidFill>
            <a:schemeClr val="tx2"/>
          </a:solidFill>
          <a:ln/>
        </p:spPr>
      </p:sp>
      <p:sp>
        <p:nvSpPr>
          <p:cNvPr id="6" name="LLM role icon circle"/>
          <p:cNvSpPr/>
          <p:nvPr/>
        </p:nvSpPr>
        <p:spPr>
          <a:xfrm>
            <a:off x="8366760" y="2011680"/>
            <a:ext cx="777240" cy="777240"/>
          </a:xfrm>
          <a:prstGeom prst="ellipse">
            <a:avLst/>
          </a:prstGeom>
          <a:solidFill>
            <a:schemeClr val="accent2"/>
          </a:solidFill>
          <a:ln/>
        </p:spPr>
      </p:sp>
      <p:pic>
        <p:nvPicPr>
          <p:cNvPr id="7" name="LLM role icon" descr="LLM role icon">    </p:cNvPr>
          <p:cNvPicPr>
            <a:picLocks noChangeAspect="1"/>
          </p:cNvPicPr>
          <p:nvPr/>
        </p:nvPicPr>
        <p:blipFill>
          <a:blip r:embed="rId2"/>
          <a:stretch>
            <a:fillRect/>
          </a:stretch>
        </p:blipFill>
        <p:spPr>
          <a:xfrm>
            <a:off x="8561070" y="2205990"/>
            <a:ext cx="388620" cy="388620"/>
          </a:xfrm>
          <a:prstGeom prst="rect">
            <a:avLst/>
          </a:prstGeom>
        </p:spPr>
      </p:pic>
      <p:sp>
        <p:nvSpPr>
          <p:cNvPr id="8" name="Text 4"/>
          <p:cNvSpPr txBox="1"/>
          <p:nvPr/>
        </p:nvSpPr>
        <p:spPr>
          <a:xfrm>
            <a:off x="8366760" y="2971800"/>
            <a:ext cx="3017520" cy="45720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Where the LLM still helps</a:t>
            </a:r>
            <a:endParaRPr lang="en-US" sz="1800" dirty="0"/>
          </a:p>
        </p:txBody>
      </p:sp>
      <p:sp>
        <p:nvSpPr>
          <p:cNvPr id="9" name="Text 5"/>
          <p:cNvSpPr txBox="1"/>
          <p:nvPr/>
        </p:nvSpPr>
        <p:spPr>
          <a:xfrm>
            <a:off x="8366760" y="3520440"/>
            <a:ext cx="3017520" cy="201168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accent6"/>
                </a:solidFill>
              </a:rPr>
              <a:t>New products with no sales history</a:t>
            </a:r>
            <a:endParaRPr lang="en-US" sz="1600" dirty="0"/>
          </a:p>
          <a:p>
            <a:pPr marL="342900" indent="-342900">
              <a:spcAft>
                <a:spcPts val="1000"/>
              </a:spcAft>
              <a:buSzPct val="100000"/>
              <a:buChar char="•"/>
            </a:pPr>
            <a:r>
              <a:rPr lang="en-US" sz="1600" dirty="0">
                <a:solidFill>
                  <a:schemeClr val="accent6"/>
                </a:solidFill>
              </a:rPr>
              <a:t>Plain-language reasons for each add-on</a:t>
            </a:r>
            <a:endParaRPr lang="en-US" sz="1600" dirty="0"/>
          </a:p>
        </p:txBody>
      </p:sp>
      <p:sp>
        <p:nvSpPr>
          <p:cNvPr id="10" name="Text 6"/>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000" i="1" dirty="0">
                <a:solidFill>
                  <a:schemeClr val="accent5"/>
                </a:solidFill>
              </a:rPr>
              <a:t>Qwen2.5 1.5B and 3B on a free Kaggle T4 GPU. Every LLM variant lost or tied, so LightGBM ranks.</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Live demo, free to run</a:t>
            </a:r>
            <a:endParaRPr lang="en-US" sz="3400" dirty="0"/>
          </a:p>
        </p:txBody>
      </p:sp>
      <p:sp>
        <p:nvSpPr>
          <p:cNvPr id="3" name="product card 1"/>
          <p:cNvSpPr/>
          <p:nvPr/>
        </p:nvSpPr>
        <p:spPr>
          <a:xfrm>
            <a:off x="548640" y="1645920"/>
            <a:ext cx="2578608" cy="2834640"/>
          </a:xfrm>
          <a:prstGeom prst="roundRect">
            <a:avLst>
              <a:gd name="adj" fmla="val 4255"/>
            </a:avLst>
          </a:prstGeom>
          <a:solidFill>
            <a:schemeClr val="bg2"/>
          </a:solidFill>
          <a:ln/>
        </p:spPr>
      </p:sp>
      <p:sp>
        <p:nvSpPr>
          <p:cNvPr id="4" name="Try it icon circle"/>
          <p:cNvSpPr/>
          <p:nvPr/>
        </p:nvSpPr>
        <p:spPr>
          <a:xfrm>
            <a:off x="822960" y="1920240"/>
            <a:ext cx="822960" cy="822960"/>
          </a:xfrm>
          <a:prstGeom prst="ellipse">
            <a:avLst/>
          </a:prstGeom>
          <a:solidFill>
            <a:schemeClr val="accent1"/>
          </a:solidFill>
          <a:ln/>
        </p:spPr>
      </p:sp>
      <p:pic>
        <p:nvPicPr>
          <p:cNvPr id="5" name="Try it icon" descr="Try it icon">    </p:cNvPr>
          <p:cNvPicPr>
            <a:picLocks noChangeAspect="1"/>
          </p:cNvPicPr>
          <p:nvPr/>
        </p:nvPicPr>
        <p:blipFill>
          <a:blip r:embed="rId1"/>
          <a:stretch>
            <a:fillRect/>
          </a:stretch>
        </p:blipFill>
        <p:spPr>
          <a:xfrm>
            <a:off x="1028700" y="2125980"/>
            <a:ext cx="411480" cy="411480"/>
          </a:xfrm>
          <a:prstGeom prst="rect">
            <a:avLst/>
          </a:prstGeom>
        </p:spPr>
      </p:pic>
      <p:sp>
        <p:nvSpPr>
          <p:cNvPr id="6" name="Text 3"/>
          <p:cNvSpPr txBox="1"/>
          <p:nvPr/>
        </p:nvSpPr>
        <p:spPr>
          <a:xfrm>
            <a:off x="822960" y="2926080"/>
            <a:ext cx="210312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Try it</a:t>
            </a:r>
            <a:endParaRPr lang="en-US" sz="2200" dirty="0"/>
          </a:p>
        </p:txBody>
      </p:sp>
      <p:sp>
        <p:nvSpPr>
          <p:cNvPr id="7" name="Text 4"/>
          <p:cNvSpPr txBox="1"/>
          <p:nvPr/>
        </p:nvSpPr>
        <p:spPr>
          <a:xfrm>
            <a:off x="822960" y="3429000"/>
            <a:ext cx="2103120" cy="914400"/>
          </a:xfrm>
          <a:prstGeom prst="rect">
            <a:avLst/>
          </a:prstGeom>
          <a:noFill/>
          <a:ln/>
        </p:spPr>
        <p:txBody>
          <a:bodyPr wrap="square" lIns="0" tIns="0" rIns="0" bIns="0" rtlCol="0" anchor="t"/>
          <a:lstStyle/>
          <a:p>
            <a:pPr indent="0" marL="0">
              <a:buNone/>
            </a:pPr>
            <a:r>
              <a:rPr lang="en-US" sz="1500" dirty="0">
                <a:solidFill>
                  <a:schemeClr val="tx1"/>
                </a:solidFill>
              </a:rPr>
              <a:t>Build a basket, see 2 add-ons and their margin</a:t>
            </a:r>
            <a:endParaRPr lang="en-US" sz="1500" dirty="0"/>
          </a:p>
        </p:txBody>
      </p:sp>
      <p:sp>
        <p:nvSpPr>
          <p:cNvPr id="8" name="product card 2"/>
          <p:cNvSpPr/>
          <p:nvPr/>
        </p:nvSpPr>
        <p:spPr>
          <a:xfrm>
            <a:off x="3364992" y="1645920"/>
            <a:ext cx="2578608" cy="2834640"/>
          </a:xfrm>
          <a:prstGeom prst="roundRect">
            <a:avLst>
              <a:gd name="adj" fmla="val 4255"/>
            </a:avLst>
          </a:prstGeom>
          <a:solidFill>
            <a:schemeClr val="bg2"/>
          </a:solidFill>
          <a:ln/>
        </p:spPr>
      </p:sp>
      <p:sp>
        <p:nvSpPr>
          <p:cNvPr id="9" name="Your data icon circle"/>
          <p:cNvSpPr/>
          <p:nvPr/>
        </p:nvSpPr>
        <p:spPr>
          <a:xfrm>
            <a:off x="3639312" y="1920240"/>
            <a:ext cx="822960" cy="822960"/>
          </a:xfrm>
          <a:prstGeom prst="ellipse">
            <a:avLst/>
          </a:prstGeom>
          <a:solidFill>
            <a:schemeClr val="accent1"/>
          </a:solidFill>
          <a:ln/>
        </p:spPr>
      </p:sp>
      <p:pic>
        <p:nvPicPr>
          <p:cNvPr id="10" name="Your data icon" descr="Your data icon">    </p:cNvPr>
          <p:cNvPicPr>
            <a:picLocks noChangeAspect="1"/>
          </p:cNvPicPr>
          <p:nvPr/>
        </p:nvPicPr>
        <p:blipFill>
          <a:blip r:embed="rId2"/>
          <a:stretch>
            <a:fillRect/>
          </a:stretch>
        </p:blipFill>
        <p:spPr>
          <a:xfrm>
            <a:off x="3845052" y="2125980"/>
            <a:ext cx="411480" cy="411480"/>
          </a:xfrm>
          <a:prstGeom prst="rect">
            <a:avLst/>
          </a:prstGeom>
        </p:spPr>
      </p:pic>
      <p:sp>
        <p:nvSpPr>
          <p:cNvPr id="11" name="Text 7"/>
          <p:cNvSpPr txBox="1"/>
          <p:nvPr/>
        </p:nvSpPr>
        <p:spPr>
          <a:xfrm>
            <a:off x="3639312" y="2926080"/>
            <a:ext cx="210312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Your data</a:t>
            </a:r>
            <a:endParaRPr lang="en-US" sz="2200" dirty="0"/>
          </a:p>
        </p:txBody>
      </p:sp>
      <p:sp>
        <p:nvSpPr>
          <p:cNvPr id="12" name="Text 8"/>
          <p:cNvSpPr txBox="1"/>
          <p:nvPr/>
        </p:nvSpPr>
        <p:spPr>
          <a:xfrm>
            <a:off x="3639312" y="3429000"/>
            <a:ext cx="2103120" cy="914400"/>
          </a:xfrm>
          <a:prstGeom prst="rect">
            <a:avLst/>
          </a:prstGeom>
          <a:noFill/>
          <a:ln/>
        </p:spPr>
        <p:txBody>
          <a:bodyPr wrap="square" lIns="0" tIns="0" rIns="0" bIns="0" rtlCol="0" anchor="t"/>
          <a:lstStyle/>
          <a:p>
            <a:pPr indent="0" marL="0">
              <a:buNone/>
            </a:pPr>
            <a:r>
              <a:rPr lang="en-US" sz="1500" dirty="0">
                <a:solidFill>
                  <a:schemeClr val="tx1"/>
                </a:solidFill>
              </a:rPr>
              <a:t>Upload an order CSV and train on it</a:t>
            </a:r>
            <a:endParaRPr lang="en-US" sz="1500" dirty="0"/>
          </a:p>
        </p:txBody>
      </p:sp>
      <p:sp>
        <p:nvSpPr>
          <p:cNvPr id="13" name="product card 3"/>
          <p:cNvSpPr/>
          <p:nvPr/>
        </p:nvSpPr>
        <p:spPr>
          <a:xfrm>
            <a:off x="6181344" y="1645920"/>
            <a:ext cx="2578608" cy="2834640"/>
          </a:xfrm>
          <a:prstGeom prst="roundRect">
            <a:avLst>
              <a:gd name="adj" fmla="val 4255"/>
            </a:avLst>
          </a:prstGeom>
          <a:solidFill>
            <a:schemeClr val="bg2"/>
          </a:solidFill>
          <a:ln/>
        </p:spPr>
      </p:sp>
      <p:sp>
        <p:nvSpPr>
          <p:cNvPr id="14" name="API icon circle"/>
          <p:cNvSpPr/>
          <p:nvPr/>
        </p:nvSpPr>
        <p:spPr>
          <a:xfrm>
            <a:off x="6455664" y="1920240"/>
            <a:ext cx="822960" cy="822960"/>
          </a:xfrm>
          <a:prstGeom prst="ellipse">
            <a:avLst/>
          </a:prstGeom>
          <a:solidFill>
            <a:schemeClr val="accent1"/>
          </a:solidFill>
          <a:ln/>
        </p:spPr>
      </p:sp>
      <p:pic>
        <p:nvPicPr>
          <p:cNvPr id="15" name="API icon" descr="API icon">    </p:cNvPr>
          <p:cNvPicPr>
            <a:picLocks noChangeAspect="1"/>
          </p:cNvPicPr>
          <p:nvPr/>
        </p:nvPicPr>
        <p:blipFill>
          <a:blip r:embed="rId3"/>
          <a:stretch>
            <a:fillRect/>
          </a:stretch>
        </p:blipFill>
        <p:spPr>
          <a:xfrm>
            <a:off x="6661404" y="2125980"/>
            <a:ext cx="411480" cy="411480"/>
          </a:xfrm>
          <a:prstGeom prst="rect">
            <a:avLst/>
          </a:prstGeom>
        </p:spPr>
      </p:pic>
      <p:sp>
        <p:nvSpPr>
          <p:cNvPr id="16" name="Text 11"/>
          <p:cNvSpPr txBox="1"/>
          <p:nvPr/>
        </p:nvSpPr>
        <p:spPr>
          <a:xfrm>
            <a:off x="6455664" y="2926080"/>
            <a:ext cx="210312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API</a:t>
            </a:r>
            <a:endParaRPr lang="en-US" sz="2200" dirty="0"/>
          </a:p>
        </p:txBody>
      </p:sp>
      <p:sp>
        <p:nvSpPr>
          <p:cNvPr id="17" name="Text 12"/>
          <p:cNvSpPr txBox="1"/>
          <p:nvPr/>
        </p:nvSpPr>
        <p:spPr>
          <a:xfrm>
            <a:off x="6455664" y="3429000"/>
            <a:ext cx="2103120" cy="914400"/>
          </a:xfrm>
          <a:prstGeom prst="rect">
            <a:avLst/>
          </a:prstGeom>
          <a:noFill/>
          <a:ln/>
        </p:spPr>
        <p:txBody>
          <a:bodyPr wrap="square" lIns="0" tIns="0" rIns="0" bIns="0" rtlCol="0" anchor="t"/>
          <a:lstStyle/>
          <a:p>
            <a:pPr indent="0" marL="0">
              <a:buNone/>
            </a:pPr>
            <a:r>
              <a:rPr lang="en-US" sz="1500" dirty="0">
                <a:solidFill>
                  <a:schemeClr val="tx1"/>
                </a:solidFill>
              </a:rPr>
              <a:t>POST /recommend returns JSON</a:t>
            </a:r>
            <a:endParaRPr lang="en-US" sz="1500" dirty="0"/>
          </a:p>
        </p:txBody>
      </p:sp>
      <p:sp>
        <p:nvSpPr>
          <p:cNvPr id="18" name="product card 4"/>
          <p:cNvSpPr/>
          <p:nvPr/>
        </p:nvSpPr>
        <p:spPr>
          <a:xfrm>
            <a:off x="8997696" y="1645920"/>
            <a:ext cx="2578608" cy="2834640"/>
          </a:xfrm>
          <a:prstGeom prst="roundRect">
            <a:avLst>
              <a:gd name="adj" fmla="val 4255"/>
            </a:avLst>
          </a:prstGeom>
          <a:solidFill>
            <a:schemeClr val="bg2"/>
          </a:solidFill>
          <a:ln/>
        </p:spPr>
      </p:sp>
      <p:sp>
        <p:nvSpPr>
          <p:cNvPr id="19" name="One CPU icon circle"/>
          <p:cNvSpPr/>
          <p:nvPr/>
        </p:nvSpPr>
        <p:spPr>
          <a:xfrm>
            <a:off x="9272016" y="1920240"/>
            <a:ext cx="822960" cy="822960"/>
          </a:xfrm>
          <a:prstGeom prst="ellipse">
            <a:avLst/>
          </a:prstGeom>
          <a:solidFill>
            <a:schemeClr val="accent1"/>
          </a:solidFill>
          <a:ln/>
        </p:spPr>
      </p:sp>
      <p:pic>
        <p:nvPicPr>
          <p:cNvPr id="20" name="One CPU icon" descr="One CPU icon">    </p:cNvPr>
          <p:cNvPicPr>
            <a:picLocks noChangeAspect="1"/>
          </p:cNvPicPr>
          <p:nvPr/>
        </p:nvPicPr>
        <p:blipFill>
          <a:blip r:embed="rId4"/>
          <a:stretch>
            <a:fillRect/>
          </a:stretch>
        </p:blipFill>
        <p:spPr>
          <a:xfrm>
            <a:off x="9477756" y="2125980"/>
            <a:ext cx="411480" cy="411480"/>
          </a:xfrm>
          <a:prstGeom prst="rect">
            <a:avLst/>
          </a:prstGeom>
        </p:spPr>
      </p:pic>
      <p:sp>
        <p:nvSpPr>
          <p:cNvPr id="21" name="Text 15"/>
          <p:cNvSpPr txBox="1"/>
          <p:nvPr/>
        </p:nvSpPr>
        <p:spPr>
          <a:xfrm>
            <a:off x="9272016" y="2926080"/>
            <a:ext cx="210312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One CPU</a:t>
            </a:r>
            <a:endParaRPr lang="en-US" sz="2200" dirty="0"/>
          </a:p>
        </p:txBody>
      </p:sp>
      <p:sp>
        <p:nvSpPr>
          <p:cNvPr id="22" name="Text 16"/>
          <p:cNvSpPr txBox="1"/>
          <p:nvPr/>
        </p:nvSpPr>
        <p:spPr>
          <a:xfrm>
            <a:off x="9272016" y="3429000"/>
            <a:ext cx="2103120" cy="914400"/>
          </a:xfrm>
          <a:prstGeom prst="rect">
            <a:avLst/>
          </a:prstGeom>
          <a:noFill/>
          <a:ln/>
        </p:spPr>
        <p:txBody>
          <a:bodyPr wrap="square" lIns="0" tIns="0" rIns="0" bIns="0" rtlCol="0" anchor="t"/>
          <a:lstStyle/>
          <a:p>
            <a:pPr indent="0" marL="0">
              <a:buNone/>
            </a:pPr>
            <a:r>
              <a:rPr lang="en-US" sz="1500" dirty="0">
                <a:solidFill>
                  <a:schemeClr val="tx1"/>
                </a:solidFill>
              </a:rPr>
              <a:t>Free tiers: Spaces, Postgres, Redis</a:t>
            </a:r>
            <a:endParaRPr lang="en-US" sz="1500" dirty="0"/>
          </a:p>
        </p:txBody>
      </p:sp>
      <p:sp>
        <p:nvSpPr>
          <p:cNvPr id="23" name="demo link card"/>
          <p:cNvSpPr/>
          <p:nvPr/>
        </p:nvSpPr>
        <p:spPr>
          <a:xfrm>
            <a:off x="548640" y="4800600"/>
            <a:ext cx="11064240" cy="914400"/>
          </a:xfrm>
          <a:prstGeom prst="roundRect">
            <a:avLst>
              <a:gd name="adj" fmla="val 12000"/>
            </a:avLst>
          </a:prstGeom>
          <a:solidFill>
            <a:schemeClr val="tx2"/>
          </a:solidFill>
          <a:ln/>
        </p:spPr>
      </p:sp>
      <p:sp>
        <p:nvSpPr>
          <p:cNvPr id="24" name="Text 18"/>
          <p:cNvSpPr txBox="1"/>
          <p:nvPr/>
        </p:nvSpPr>
        <p:spPr>
          <a:xfrm>
            <a:off x="822960" y="4892040"/>
            <a:ext cx="10515600" cy="731520"/>
          </a:xfrm>
          <a:prstGeom prst="rect">
            <a:avLst/>
          </a:prstGeom>
          <a:noFill/>
          <a:ln/>
        </p:spPr>
        <p:txBody>
          <a:bodyPr wrap="square" lIns="0" tIns="0" rIns="0" bIns="0" rtlCol="0" anchor="ctr"/>
          <a:lstStyle/>
          <a:p>
            <a:pPr indent="0" marL="0">
              <a:buNone/>
            </a:pPr>
            <a:r>
              <a:rPr lang="en-US" sz="2000" b="1" dirty="0">
                <a:solidFill>
                  <a:schemeClr val="accent2"/>
                </a:solidFill>
              </a:rPr>
              <a:t>Demo:  </a:t>
            </a:r>
            <a:pPr indent="0" marL="0">
              <a:buNone/>
            </a:pPr>
            <a:r>
              <a:rPr lang="en-US" sz="2000" u="sng" dirty="0">
                <a:solidFill>
                  <a:schemeClr val="bg1"/>
                </a:solidFill>
                <a:hlinkClick r:id="rId5" invalidUrl="" action="" tgtFrame="" tooltip="" history="1" highlightClick="0" endSnd="0">
                  <a:extLst>
                    <a:ext uri="{A12FA001-AC4F-418D-AE19-62706E023703}">
                      <ahyp:hlinkClr xmlns:ahyp="http://schemas.microsoft.com/office/drawing/2018/hyperlinkcolor" val="tx"/>
                    </a:ext>
                  </a:extLst>
                </a:hlinkClick>
              </a:rPr>
              <a:t>huggingface.co/spaces/EquilStable/MarginGraph</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latin typeface="Cambria" pitchFamily="34" charset="0"/>
                <a:ea typeface="Cambria" pitchFamily="34" charset="-122"/>
                <a:cs typeface="Cambria" pitchFamily="34" charset="-120"/>
              </a:rPr>
              <a:t>What is proven, and what needs a real store</a:t>
            </a:r>
            <a:endParaRPr lang="en-US" sz="3400" dirty="0"/>
          </a:p>
        </p:txBody>
      </p:sp>
      <p:sp>
        <p:nvSpPr>
          <p:cNvPr id="3" name="proven card"/>
          <p:cNvSpPr/>
          <p:nvPr/>
        </p:nvSpPr>
        <p:spPr>
          <a:xfrm>
            <a:off x="548640" y="1508760"/>
            <a:ext cx="5440680" cy="3840480"/>
          </a:xfrm>
          <a:prstGeom prst="roundRect">
            <a:avLst>
              <a:gd name="adj" fmla="val 2857"/>
            </a:avLst>
          </a:prstGeom>
          <a:solidFill>
            <a:schemeClr val="bg2"/>
          </a:solidFill>
          <a:ln/>
        </p:spPr>
      </p:sp>
      <p:sp>
        <p:nvSpPr>
          <p:cNvPr id="4" name="proven icon circle"/>
          <p:cNvSpPr/>
          <p:nvPr/>
        </p:nvSpPr>
        <p:spPr>
          <a:xfrm>
            <a:off x="822960" y="1737360"/>
            <a:ext cx="685800" cy="685800"/>
          </a:xfrm>
          <a:prstGeom prst="ellipse">
            <a:avLst/>
          </a:prstGeom>
          <a:solidFill>
            <a:schemeClr val="accent1"/>
          </a:solidFill>
          <a:ln/>
        </p:spPr>
      </p:sp>
      <p:pic>
        <p:nvPicPr>
          <p:cNvPr id="5" name="proven icon" descr="proven icon">    </p:cNvPr>
          <p:cNvPicPr>
            <a:picLocks noChangeAspect="1"/>
          </p:cNvPicPr>
          <p:nvPr/>
        </p:nvPicPr>
        <p:blipFill>
          <a:blip r:embed="rId1"/>
          <a:stretch>
            <a:fillRect/>
          </a:stretch>
        </p:blipFill>
        <p:spPr>
          <a:xfrm>
            <a:off x="994410" y="1908810"/>
            <a:ext cx="342900" cy="342900"/>
          </a:xfrm>
          <a:prstGeom prst="rect">
            <a:avLst/>
          </a:prstGeom>
        </p:spPr>
      </p:pic>
      <p:sp>
        <p:nvSpPr>
          <p:cNvPr id="6" name="Text 3"/>
          <p:cNvSpPr txBox="1"/>
          <p:nvPr/>
        </p:nvSpPr>
        <p:spPr>
          <a:xfrm>
            <a:off x="1691640" y="1828800"/>
            <a:ext cx="4114800" cy="457200"/>
          </a:xfrm>
          <a:prstGeom prst="rect">
            <a:avLst/>
          </a:prstGeom>
          <a:noFill/>
          <a:ln/>
        </p:spPr>
        <p:txBody>
          <a:bodyPr wrap="square" lIns="0" tIns="0" rIns="0" bIns="0" rtlCol="0" anchor="t"/>
          <a:lstStyle/>
          <a:p>
            <a:pPr indent="0" marL="0">
              <a:buNone/>
            </a:pPr>
            <a:r>
              <a:rPr lang="en-US" sz="2100" b="1" dirty="0">
                <a:solidFill>
                  <a:schemeClr val="tx2"/>
                </a:solidFill>
                <a:latin typeface="Cambria" pitchFamily="34" charset="0"/>
                <a:ea typeface="Cambria" pitchFamily="34" charset="-122"/>
                <a:cs typeface="Cambria" pitchFamily="34" charset="-120"/>
              </a:rPr>
              <a:t>Measured on real baskets</a:t>
            </a:r>
            <a:endParaRPr lang="en-US" sz="2100" dirty="0"/>
          </a:p>
        </p:txBody>
      </p:sp>
      <p:sp>
        <p:nvSpPr>
          <p:cNvPr id="7" name="Text 4"/>
          <p:cNvSpPr txBox="1"/>
          <p:nvPr/>
        </p:nvSpPr>
        <p:spPr>
          <a:xfrm>
            <a:off x="868680" y="2606040"/>
            <a:ext cx="4846320" cy="25603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Relevance gain on 3 of 4 large datasets</a:t>
            </a:r>
            <a:endParaRPr lang="en-US" sz="1700" dirty="0"/>
          </a:p>
          <a:p>
            <a:pPr marL="342900" indent="-342900">
              <a:spcAft>
                <a:spcPts val="800"/>
              </a:spcAft>
              <a:buSzPct val="100000"/>
              <a:buChar char="•"/>
            </a:pPr>
            <a:r>
              <a:rPr lang="en-US" sz="1700" dirty="0">
                <a:solidFill>
                  <a:schemeClr val="tx1"/>
                </a:solidFill>
              </a:rPr>
              <a:t>Instacart loss found and fixed</a:t>
            </a:r>
            <a:endParaRPr lang="en-US" sz="1700" dirty="0"/>
          </a:p>
          <a:p>
            <a:pPr marL="342900" indent="-342900">
              <a:spcAft>
                <a:spcPts val="800"/>
              </a:spcAft>
              <a:buSzPct val="100000"/>
              <a:buChar char="•"/>
            </a:pPr>
            <a:r>
              <a:rPr lang="en-US" sz="1700" dirty="0">
                <a:solidFill>
                  <a:schemeClr val="tx1"/>
                </a:solidFill>
              </a:rPr>
              <a:t>Margin floor holds every time</a:t>
            </a:r>
            <a:endParaRPr lang="en-US" sz="1700" dirty="0"/>
          </a:p>
          <a:p>
            <a:pPr marL="342900" indent="-342900">
              <a:spcAft>
                <a:spcPts val="800"/>
              </a:spcAft>
              <a:buSzPct val="100000"/>
              <a:buChar char="•"/>
            </a:pPr>
            <a:r>
              <a:rPr lang="en-US" sz="1700" dirty="0">
                <a:solidFill>
                  <a:schemeClr val="tx1"/>
                </a:solidFill>
              </a:rPr>
              <a:t>Optimizer exact and fast</a:t>
            </a:r>
            <a:endParaRPr lang="en-US" sz="1700" dirty="0"/>
          </a:p>
          <a:p>
            <a:pPr marL="342900" indent="-342900">
              <a:spcAft>
                <a:spcPts val="800"/>
              </a:spcAft>
              <a:buSzPct val="100000"/>
              <a:buChar char="•"/>
            </a:pPr>
            <a:r>
              <a:rPr lang="en-US" sz="1700" dirty="0">
                <a:solidFill>
                  <a:schemeClr val="tx1"/>
                </a:solidFill>
              </a:rPr>
              <a:t>LLM ranking: NO-GO</a:t>
            </a:r>
            <a:endParaRPr lang="en-US" sz="1700" dirty="0"/>
          </a:p>
        </p:txBody>
      </p:sp>
      <p:sp>
        <p:nvSpPr>
          <p:cNvPr id="8" name="open card"/>
          <p:cNvSpPr/>
          <p:nvPr/>
        </p:nvSpPr>
        <p:spPr>
          <a:xfrm>
            <a:off x="6172200" y="1508760"/>
            <a:ext cx="5440680" cy="3840480"/>
          </a:xfrm>
          <a:prstGeom prst="roundRect">
            <a:avLst>
              <a:gd name="adj" fmla="val 2857"/>
            </a:avLst>
          </a:prstGeom>
          <a:solidFill>
            <a:schemeClr val="bg2"/>
          </a:solidFill>
          <a:ln/>
        </p:spPr>
      </p:sp>
      <p:sp>
        <p:nvSpPr>
          <p:cNvPr id="9" name="open icon circle"/>
          <p:cNvSpPr/>
          <p:nvPr/>
        </p:nvSpPr>
        <p:spPr>
          <a:xfrm>
            <a:off x="6446520" y="1737360"/>
            <a:ext cx="685800" cy="685800"/>
          </a:xfrm>
          <a:prstGeom prst="ellipse">
            <a:avLst/>
          </a:prstGeom>
          <a:solidFill>
            <a:schemeClr val="accent2"/>
          </a:solidFill>
          <a:ln/>
        </p:spPr>
      </p:sp>
      <p:pic>
        <p:nvPicPr>
          <p:cNvPr id="10" name="open icon" descr="open icon">    </p:cNvPr>
          <p:cNvPicPr>
            <a:picLocks noChangeAspect="1"/>
          </p:cNvPicPr>
          <p:nvPr/>
        </p:nvPicPr>
        <p:blipFill>
          <a:blip r:embed="rId2"/>
          <a:stretch>
            <a:fillRect/>
          </a:stretch>
        </p:blipFill>
        <p:spPr>
          <a:xfrm>
            <a:off x="6617970" y="1908810"/>
            <a:ext cx="342900" cy="342900"/>
          </a:xfrm>
          <a:prstGeom prst="rect">
            <a:avLst/>
          </a:prstGeom>
        </p:spPr>
      </p:pic>
      <p:sp>
        <p:nvSpPr>
          <p:cNvPr id="11" name="Text 7"/>
          <p:cNvSpPr txBox="1"/>
          <p:nvPr/>
        </p:nvSpPr>
        <p:spPr>
          <a:xfrm>
            <a:off x="7315200" y="1828800"/>
            <a:ext cx="4114800" cy="457200"/>
          </a:xfrm>
          <a:prstGeom prst="rect">
            <a:avLst/>
          </a:prstGeom>
          <a:noFill/>
          <a:ln/>
        </p:spPr>
        <p:txBody>
          <a:bodyPr wrap="square" lIns="0" tIns="0" rIns="0" bIns="0" rtlCol="0" anchor="t"/>
          <a:lstStyle/>
          <a:p>
            <a:pPr indent="0" marL="0">
              <a:buNone/>
            </a:pPr>
            <a:r>
              <a:rPr lang="en-US" sz="2100" b="1" dirty="0">
                <a:solidFill>
                  <a:schemeClr val="tx2"/>
                </a:solidFill>
                <a:latin typeface="Cambria" pitchFamily="34" charset="0"/>
                <a:ea typeface="Cambria" pitchFamily="34" charset="-122"/>
                <a:cs typeface="Cambria" pitchFamily="34" charset="-120"/>
              </a:rPr>
              <a:t>Still needs a real store</a:t>
            </a:r>
            <a:endParaRPr lang="en-US" sz="2100" dirty="0"/>
          </a:p>
        </p:txBody>
      </p:sp>
      <p:sp>
        <p:nvSpPr>
          <p:cNvPr id="12" name="Text 8"/>
          <p:cNvSpPr txBox="1"/>
          <p:nvPr/>
        </p:nvSpPr>
        <p:spPr>
          <a:xfrm>
            <a:off x="6492240" y="2606040"/>
            <a:ext cx="4846320" cy="2560320"/>
          </a:xfrm>
          <a:prstGeom prst="rect">
            <a:avLst/>
          </a:prstGeom>
          <a:noFill/>
          <a:ln/>
        </p:spPr>
        <p:txBody>
          <a:bodyPr wrap="square" lIns="0" tIns="0" rIns="0" bIns="0" rtlCol="0" anchor="t"/>
          <a:lstStyle/>
          <a:p>
            <a:pPr marL="342900" indent="-342900">
              <a:spcAft>
                <a:spcPts val="800"/>
              </a:spcAft>
              <a:buSzPct val="100000"/>
              <a:buChar char="•"/>
            </a:pPr>
            <a:r>
              <a:rPr lang="en-US" sz="1700" dirty="0">
                <a:solidFill>
                  <a:schemeClr val="tx1"/>
                </a:solidFill>
              </a:rPr>
              <a:t>Unit cost and stock (simulated today)</a:t>
            </a:r>
            <a:endParaRPr lang="en-US" sz="1700" dirty="0"/>
          </a:p>
          <a:p>
            <a:pPr marL="342900" indent="-342900">
              <a:spcAft>
                <a:spcPts val="800"/>
              </a:spcAft>
              <a:buSzPct val="100000"/>
              <a:buChar char="•"/>
            </a:pPr>
            <a:r>
              <a:rPr lang="en-US" sz="1700" dirty="0">
                <a:solidFill>
                  <a:schemeClr val="tx1"/>
                </a:solidFill>
              </a:rPr>
              <a:t>Profit gains: 13-24%, all simulated</a:t>
            </a:r>
            <a:endParaRPr lang="en-US" sz="1700" dirty="0"/>
          </a:p>
          <a:p>
            <a:pPr marL="342900" indent="-342900">
              <a:spcAft>
                <a:spcPts val="800"/>
              </a:spcAft>
              <a:buSzPct val="100000"/>
              <a:buChar char="•"/>
            </a:pPr>
            <a:r>
              <a:rPr lang="en-US" sz="1700" dirty="0">
                <a:solidFill>
                  <a:schemeClr val="tx1"/>
                </a:solidFill>
              </a:rPr>
              <a:t>Shopper response: needs an A/B test</a:t>
            </a:r>
            <a:endParaRPr lang="en-US" sz="1700" dirty="0"/>
          </a:p>
          <a:p>
            <a:pPr marL="342900" indent="-342900">
              <a:spcAft>
                <a:spcPts val="800"/>
              </a:spcAft>
              <a:buSzPct val="100000"/>
              <a:buChar char="•"/>
            </a:pPr>
            <a:r>
              <a:rPr lang="en-US" sz="1700" dirty="0">
                <a:solidFill>
                  <a:schemeClr val="tx1"/>
                </a:solidFill>
              </a:rPr>
              <a:t>Discount response is assumed</a:t>
            </a:r>
            <a:endParaRPr lang="en-US" sz="1700" dirty="0"/>
          </a:p>
        </p:txBody>
      </p:sp>
      <p:sp>
        <p:nvSpPr>
          <p:cNvPr id="13" name="Text 9"/>
          <p:cNvSpPr txBox="1"/>
          <p:nvPr/>
        </p:nvSpPr>
        <p:spPr>
          <a:xfrm>
            <a:off x="548640" y="5532120"/>
            <a:ext cx="11064240" cy="411480"/>
          </a:xfrm>
          <a:prstGeom prst="rect">
            <a:avLst/>
          </a:prstGeom>
          <a:noFill/>
          <a:ln/>
        </p:spPr>
        <p:txBody>
          <a:bodyPr wrap="square" lIns="0" tIns="0" rIns="0" bIns="0" rtlCol="0" anchor="t"/>
          <a:lstStyle/>
          <a:p>
            <a:pPr indent="0" marL="0">
              <a:buNone/>
            </a:pPr>
            <a:r>
              <a:rPr lang="en-US" sz="1800" i="1" dirty="0">
                <a:solidFill>
                  <a:schemeClr val="accent1"/>
                </a:solidFill>
              </a:rPr>
              <a:t>Relevance is proven offline. Profit becomes a real claim after one pilot store.</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411480"/>
            <a:ext cx="11064240" cy="822960"/>
          </a:xfrm>
          <a:prstGeom prst="rect">
            <a:avLst/>
          </a:prstGeom>
          <a:noFill/>
          <a:ln/>
        </p:spPr>
        <p:txBody>
          <a:bodyPr wrap="square" lIns="0" tIns="0" rIns="0" bIns="0" rtlCol="0" anchor="ctr"/>
          <a:lstStyle/>
          <a:p>
            <a:pPr algn="l" indent="0" marL="0">
              <a:buNone/>
            </a:pPr>
            <a:r>
              <a:rPr lang="en-US" sz="3400" b="1" dirty="0">
                <a:solidFill>
                  <a:schemeClr val="bg1"/>
                </a:solidFill>
                <a:latin typeface="Cambria" pitchFamily="34" charset="0"/>
                <a:ea typeface="Cambria" pitchFamily="34" charset="-122"/>
                <a:cs typeface="Cambria" pitchFamily="34" charset="-120"/>
              </a:rPr>
              <a:t>The ask: two or three pilot stores</a:t>
            </a:r>
            <a:endParaRPr lang="en-US" sz="3400" dirty="0"/>
          </a:p>
        </p:txBody>
      </p:sp>
      <p:sp>
        <p:nvSpPr>
          <p:cNvPr id="3" name="ask card 1"/>
          <p:cNvSpPr/>
          <p:nvPr/>
        </p:nvSpPr>
        <p:spPr>
          <a:xfrm>
            <a:off x="548640" y="1600200"/>
            <a:ext cx="3474720" cy="2926080"/>
          </a:xfrm>
          <a:prstGeom prst="roundRect">
            <a:avLst>
              <a:gd name="adj" fmla="val 3750"/>
            </a:avLst>
          </a:prstGeom>
          <a:solidFill>
            <a:srgbClr val="1C4A3C"/>
          </a:solidFill>
          <a:ln/>
        </p:spPr>
      </p:sp>
      <p:sp>
        <p:nvSpPr>
          <p:cNvPr id="4" name="Free pilot icon circle"/>
          <p:cNvSpPr/>
          <p:nvPr/>
        </p:nvSpPr>
        <p:spPr>
          <a:xfrm>
            <a:off x="868680" y="1874520"/>
            <a:ext cx="868680" cy="868680"/>
          </a:xfrm>
          <a:prstGeom prst="ellipse">
            <a:avLst/>
          </a:prstGeom>
          <a:solidFill>
            <a:schemeClr val="accent2"/>
          </a:solidFill>
          <a:ln/>
        </p:spPr>
      </p:sp>
      <p:pic>
        <p:nvPicPr>
          <p:cNvPr id="5" name="Free pilot icon" descr="Free pilot icon">    </p:cNvPr>
          <p:cNvPicPr>
            <a:picLocks noChangeAspect="1"/>
          </p:cNvPicPr>
          <p:nvPr/>
        </p:nvPicPr>
        <p:blipFill>
          <a:blip r:embed="rId1"/>
          <a:stretch>
            <a:fillRect/>
          </a:stretch>
        </p:blipFill>
        <p:spPr>
          <a:xfrm>
            <a:off x="1085850" y="2091690"/>
            <a:ext cx="434340" cy="434340"/>
          </a:xfrm>
          <a:prstGeom prst="rect">
            <a:avLst/>
          </a:prstGeom>
        </p:spPr>
      </p:pic>
      <p:sp>
        <p:nvSpPr>
          <p:cNvPr id="6" name="Text 3"/>
          <p:cNvSpPr txBox="1"/>
          <p:nvPr/>
        </p:nvSpPr>
        <p:spPr>
          <a:xfrm>
            <a:off x="868680" y="2926080"/>
            <a:ext cx="283464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Free pilot</a:t>
            </a:r>
            <a:endParaRPr lang="en-US" sz="2400" dirty="0"/>
          </a:p>
        </p:txBody>
      </p:sp>
      <p:sp>
        <p:nvSpPr>
          <p:cNvPr id="7" name="Text 4"/>
          <p:cNvSpPr txBox="1"/>
          <p:nvPr/>
        </p:nvSpPr>
        <p:spPr>
          <a:xfrm>
            <a:off x="868680" y="3474720"/>
            <a:ext cx="2834640" cy="914400"/>
          </a:xfrm>
          <a:prstGeom prst="rect">
            <a:avLst/>
          </a:prstGeom>
          <a:noFill/>
          <a:ln/>
        </p:spPr>
        <p:txBody>
          <a:bodyPr wrap="square" lIns="0" tIns="0" rIns="0" bIns="0" rtlCol="0" anchor="t"/>
          <a:lstStyle/>
          <a:p>
            <a:pPr indent="0" marL="0">
              <a:buNone/>
            </a:pPr>
            <a:r>
              <a:rPr lang="en-US" sz="1600" dirty="0">
                <a:solidFill>
                  <a:schemeClr val="accent6"/>
                </a:solidFill>
              </a:rPr>
              <a:t>MarginGraph at checkout, set up for you</a:t>
            </a:r>
            <a:endParaRPr lang="en-US" sz="1600" dirty="0"/>
          </a:p>
        </p:txBody>
      </p:sp>
      <p:sp>
        <p:nvSpPr>
          <p:cNvPr id="8" name="ask card 2"/>
          <p:cNvSpPr/>
          <p:nvPr/>
        </p:nvSpPr>
        <p:spPr>
          <a:xfrm>
            <a:off x="4297680" y="1600200"/>
            <a:ext cx="3474720" cy="2926080"/>
          </a:xfrm>
          <a:prstGeom prst="roundRect">
            <a:avLst>
              <a:gd name="adj" fmla="val 3750"/>
            </a:avLst>
          </a:prstGeom>
          <a:solidFill>
            <a:srgbClr val="1C4A3C"/>
          </a:solidFill>
          <a:ln/>
        </p:spPr>
      </p:sp>
      <p:sp>
        <p:nvSpPr>
          <p:cNvPr id="9" name="Real cost data icon circle"/>
          <p:cNvSpPr/>
          <p:nvPr/>
        </p:nvSpPr>
        <p:spPr>
          <a:xfrm>
            <a:off x="4617720" y="1874520"/>
            <a:ext cx="868680" cy="868680"/>
          </a:xfrm>
          <a:prstGeom prst="ellipse">
            <a:avLst/>
          </a:prstGeom>
          <a:solidFill>
            <a:schemeClr val="accent2"/>
          </a:solidFill>
          <a:ln/>
        </p:spPr>
      </p:sp>
      <p:pic>
        <p:nvPicPr>
          <p:cNvPr id="10" name="Real cost data icon" descr="Real cost data icon">    </p:cNvPr>
          <p:cNvPicPr>
            <a:picLocks noChangeAspect="1"/>
          </p:cNvPicPr>
          <p:nvPr/>
        </p:nvPicPr>
        <p:blipFill>
          <a:blip r:embed="rId2"/>
          <a:stretch>
            <a:fillRect/>
          </a:stretch>
        </p:blipFill>
        <p:spPr>
          <a:xfrm>
            <a:off x="4834890" y="2091690"/>
            <a:ext cx="434340" cy="434340"/>
          </a:xfrm>
          <a:prstGeom prst="rect">
            <a:avLst/>
          </a:prstGeom>
        </p:spPr>
      </p:pic>
      <p:sp>
        <p:nvSpPr>
          <p:cNvPr id="11" name="Text 7"/>
          <p:cNvSpPr txBox="1"/>
          <p:nvPr/>
        </p:nvSpPr>
        <p:spPr>
          <a:xfrm>
            <a:off x="4617720" y="2926080"/>
            <a:ext cx="283464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Real cost data</a:t>
            </a:r>
            <a:endParaRPr lang="en-US" sz="2400" dirty="0"/>
          </a:p>
        </p:txBody>
      </p:sp>
      <p:sp>
        <p:nvSpPr>
          <p:cNvPr id="12" name="Text 8"/>
          <p:cNvSpPr txBox="1"/>
          <p:nvPr/>
        </p:nvSpPr>
        <p:spPr>
          <a:xfrm>
            <a:off x="4617720" y="3474720"/>
            <a:ext cx="2834640" cy="914400"/>
          </a:xfrm>
          <a:prstGeom prst="rect">
            <a:avLst/>
          </a:prstGeom>
          <a:noFill/>
          <a:ln/>
        </p:spPr>
        <p:txBody>
          <a:bodyPr wrap="square" lIns="0" tIns="0" rIns="0" bIns="0" rtlCol="0" anchor="t"/>
          <a:lstStyle/>
          <a:p>
            <a:pPr indent="0" marL="0">
              <a:buNone/>
            </a:pPr>
            <a:r>
              <a:rPr lang="en-US" sz="1600" dirty="0">
                <a:solidFill>
                  <a:schemeClr val="accent6"/>
                </a:solidFill>
              </a:rPr>
              <a:t>Order history with unit cost and stock</a:t>
            </a:r>
            <a:endParaRPr lang="en-US" sz="1600" dirty="0"/>
          </a:p>
        </p:txBody>
      </p:sp>
      <p:sp>
        <p:nvSpPr>
          <p:cNvPr id="13" name="ask card 3"/>
          <p:cNvSpPr/>
          <p:nvPr/>
        </p:nvSpPr>
        <p:spPr>
          <a:xfrm>
            <a:off x="8046720" y="1600200"/>
            <a:ext cx="3474720" cy="2926080"/>
          </a:xfrm>
          <a:prstGeom prst="roundRect">
            <a:avLst>
              <a:gd name="adj" fmla="val 3750"/>
            </a:avLst>
          </a:prstGeom>
          <a:solidFill>
            <a:srgbClr val="1C4A3C"/>
          </a:solidFill>
          <a:ln/>
        </p:spPr>
      </p:sp>
      <p:sp>
        <p:nvSpPr>
          <p:cNvPr id="14" name="Shared result icon circle"/>
          <p:cNvSpPr/>
          <p:nvPr/>
        </p:nvSpPr>
        <p:spPr>
          <a:xfrm>
            <a:off x="8366760" y="1874520"/>
            <a:ext cx="868680" cy="868680"/>
          </a:xfrm>
          <a:prstGeom prst="ellipse">
            <a:avLst/>
          </a:prstGeom>
          <a:solidFill>
            <a:schemeClr val="accent2"/>
          </a:solidFill>
          <a:ln/>
        </p:spPr>
      </p:sp>
      <p:pic>
        <p:nvPicPr>
          <p:cNvPr id="15" name="Shared result icon" descr="Shared result icon">    </p:cNvPr>
          <p:cNvPicPr>
            <a:picLocks noChangeAspect="1"/>
          </p:cNvPicPr>
          <p:nvPr/>
        </p:nvPicPr>
        <p:blipFill>
          <a:blip r:embed="rId3"/>
          <a:stretch>
            <a:fillRect/>
          </a:stretch>
        </p:blipFill>
        <p:spPr>
          <a:xfrm>
            <a:off x="8583930" y="2091690"/>
            <a:ext cx="434340" cy="434340"/>
          </a:xfrm>
          <a:prstGeom prst="rect">
            <a:avLst/>
          </a:prstGeom>
        </p:spPr>
      </p:pic>
      <p:sp>
        <p:nvSpPr>
          <p:cNvPr id="16" name="Text 11"/>
          <p:cNvSpPr txBox="1"/>
          <p:nvPr/>
        </p:nvSpPr>
        <p:spPr>
          <a:xfrm>
            <a:off x="8366760" y="2926080"/>
            <a:ext cx="2834640" cy="457200"/>
          </a:xfrm>
          <a:prstGeom prst="rect">
            <a:avLst/>
          </a:prstGeom>
          <a:noFill/>
          <a:ln/>
        </p:spPr>
        <p:txBody>
          <a:bodyPr wrap="square" lIns="0" tIns="0" rIns="0" bIns="0" rtlCol="0" anchor="t"/>
          <a:lstStyle/>
          <a:p>
            <a:pPr indent="0" marL="0">
              <a:buNone/>
            </a:pPr>
            <a:r>
              <a:rPr lang="en-US" sz="2400" b="1" dirty="0">
                <a:solidFill>
                  <a:schemeClr val="bg1"/>
                </a:solidFill>
                <a:latin typeface="Cambria" pitchFamily="34" charset="0"/>
                <a:ea typeface="Cambria" pitchFamily="34" charset="-122"/>
                <a:cs typeface="Cambria" pitchFamily="34" charset="-120"/>
              </a:rPr>
              <a:t>Shared result</a:t>
            </a:r>
            <a:endParaRPr lang="en-US" sz="2400" dirty="0"/>
          </a:p>
        </p:txBody>
      </p:sp>
      <p:sp>
        <p:nvSpPr>
          <p:cNvPr id="17" name="Text 12"/>
          <p:cNvSpPr txBox="1"/>
          <p:nvPr/>
        </p:nvSpPr>
        <p:spPr>
          <a:xfrm>
            <a:off x="8366760" y="3474720"/>
            <a:ext cx="2834640" cy="914400"/>
          </a:xfrm>
          <a:prstGeom prst="rect">
            <a:avLst/>
          </a:prstGeom>
          <a:noFill/>
          <a:ln/>
        </p:spPr>
        <p:txBody>
          <a:bodyPr wrap="square" lIns="0" tIns="0" rIns="0" bIns="0" rtlCol="0" anchor="t"/>
          <a:lstStyle/>
          <a:p>
            <a:pPr indent="0" marL="0">
              <a:buNone/>
            </a:pPr>
            <a:r>
              <a:rPr lang="en-US" sz="1600" dirty="0">
                <a:solidFill>
                  <a:schemeClr val="accent6"/>
                </a:solidFill>
              </a:rPr>
              <a:t>A/B test write-up, published win or lose</a:t>
            </a:r>
            <a:endParaRPr lang="en-US" sz="1600" dirty="0"/>
          </a:p>
        </p:txBody>
      </p:sp>
      <p:sp>
        <p:nvSpPr>
          <p:cNvPr id="18" name="Text 13"/>
          <p:cNvSpPr txBox="1"/>
          <p:nvPr/>
        </p:nvSpPr>
        <p:spPr>
          <a:xfrm>
            <a:off x="548640" y="4800600"/>
            <a:ext cx="11064240" cy="457200"/>
          </a:xfrm>
          <a:prstGeom prst="rect">
            <a:avLst/>
          </a:prstGeom>
          <a:noFill/>
          <a:ln/>
        </p:spPr>
        <p:txBody>
          <a:bodyPr wrap="square" lIns="0" tIns="0" rIns="0" bIns="0" rtlCol="0" anchor="t"/>
          <a:lstStyle/>
          <a:p>
            <a:pPr indent="0" marL="0">
              <a:buNone/>
            </a:pPr>
            <a:r>
              <a:rPr lang="en-US" sz="1700" dirty="0">
                <a:solidFill>
                  <a:schemeClr val="bg1"/>
                </a:solidFill>
              </a:rPr>
              <a:t>Good fit: a small online shop with a few thousand orders a year and access to unit cost.</a:t>
            </a:r>
            <a:endParaRPr lang="en-US" sz="1700" dirty="0"/>
          </a:p>
        </p:txBody>
      </p:sp>
      <p:sp>
        <p:nvSpPr>
          <p:cNvPr id="19" name="Text 14"/>
          <p:cNvSpPr txBox="1"/>
          <p:nvPr/>
        </p:nvSpPr>
        <p:spPr>
          <a:xfrm>
            <a:off x="548640" y="5440680"/>
            <a:ext cx="11064240" cy="411480"/>
          </a:xfrm>
          <a:prstGeom prst="rect">
            <a:avLst/>
          </a:prstGeom>
          <a:noFill/>
          <a:ln/>
        </p:spPr>
        <p:txBody>
          <a:bodyPr wrap="square" lIns="0" tIns="0" rIns="0" bIns="0" rtlCol="0" anchor="t"/>
          <a:lstStyle/>
          <a:p>
            <a:pPr indent="0" marL="0">
              <a:buNone/>
            </a:pPr>
            <a:r>
              <a:rPr lang="en-US" sz="1800" b="1" u="sng" dirty="0">
                <a:solidFill>
                  <a:schemeClr val="accent2"/>
                </a:solidFill>
                <a:hlinkClick r:id="rId4" invalidUrl="" action="" tgtFrame="" tooltip="" history="1" highlightClick="0" endSnd="0">
                  <a:extLst>
                    <a:ext uri="{A12FA001-AC4F-418D-AE19-62706E023703}">
                      <ahyp:hlinkClr xmlns:ahyp="http://schemas.microsoft.com/office/drawing/2018/hyperlinkcolor" val="tx"/>
                    </a:ext>
                  </a:extLst>
                </a:hlinkClick>
              </a:rPr>
              <a:t>github.com/Sanskar1724/MarginGraph</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MarginGraph">
  <a:themeElements>
    <a:clrScheme name="MarginGraph">
      <a:dk1>
        <a:srgbClr val="1A1F1C"/>
      </a:dk1>
      <a:lt1>
        <a:srgbClr val="FFFFFF"/>
      </a:lt1>
      <a:dk2>
        <a:srgbClr val="12352B"/>
      </a:dk2>
      <a:lt2>
        <a:srgbClr val="EEF4F0"/>
      </a:lt2>
      <a:accent1>
        <a:srgbClr val="1F6F54"/>
      </a:accent1>
      <a:accent2>
        <a:srgbClr val="E9A23B"/>
      </a:accent2>
      <a:accent3>
        <a:srgbClr val="7FB89E"/>
      </a:accent3>
      <a:accent4>
        <a:srgbClr val="C8553D"/>
      </a:accent4>
      <a:accent5>
        <a:srgbClr val="5B6B65"/>
      </a:accent5>
      <a:accent6>
        <a:srgbClr val="A9C7B8"/>
      </a:accent6>
      <a:hlink>
        <a:srgbClr val="1F6F54"/>
      </a:hlink>
      <a:folHlink>
        <a:srgbClr val="5B6B65"/>
      </a:folHlink>
    </a:clrScheme>
    <a:fontScheme name="MarginGrap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MarginGraph: checkout add-ons that sell and protect margin</dc:title>
  <dc:subject>PptxGenJS Presentation</dc:subject>
  <dc:creator>Sanskar Chandawar</dc:creator>
  <cp:lastModifiedBy>Sanskar Chandawar</cp:lastModifiedBy>
  <cp:revision>1</cp:revision>
  <dcterms:created xsi:type="dcterms:W3CDTF">2026-10-31T15:51:26Z</dcterms:created>
  <dcterms:modified xsi:type="dcterms:W3CDTF">2026-10-31T15:51:26Z</dcterms:modified>
</cp:coreProperties>
</file>