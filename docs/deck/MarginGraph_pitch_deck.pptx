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df34344-dd1f-24e4-059a-198922a6fc69}">
          <p14:sldIdLst>
            <p14:sldId id="256"/>
          </p14:sldIdLst>
        </p14:section>
        <p14:section name="Problem and solution" id="{7ee7d0d8-2c66-2e50-2cde-b9ea638a89fa}">
          <p14:sldIdLst>
            <p14:sldId id="257"/>
            <p14:sldId id="258"/>
          </p14:sldIdLst>
        </p14:section>
        <p14:section name="How it works" id="{5df88757-0695-2fa4-1bb8-dd358e515a45}">
          <p14:sldIdLst>
            <p14:sldId id="259"/>
          </p14:sldIdLst>
        </p14:section>
        <p14:section name="Results" id="{7f09d576-9ebb-bfd5-02de-67ca1943ac28}">
          <p14:sldIdLst>
            <p14:sldId id="260"/>
            <p14:sldId id="261"/>
            <p14:sldId id="262"/>
            <p14:sldId id="263"/>
            <p14:sldId id="264"/>
          </p14:sldIdLst>
        </p14:section>
        <p14:section name="Product" id="{06b8aade-8039-9e6b-a18b-ffe1d967d022}">
          <p14:sldIdLst>
            <p14:sldId id="265"/>
            <p14:sldId id="266"/>
          </p14:sldIdLst>
        </p14:section>
        <p14:section name="Business and plan" id="{d494b806-5ae6-a968-e382-b7b57d7e1489}">
          <p14:sldIdLst>
            <p14:sldId id="267"/>
            <p14:sldId id="268"/>
            <p14:sldId id="269"/>
          </p14:sldIdLst>
        </p14:section>
        <p14:section name="Close" id="{a8a8e56d-c9ee-c802-0178-88d84a00f7e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5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52B"/>
                </a:solidFill>
                <a:latin typeface="+mn-lt"/>
              </a:rPr>
              <a:t>Hidden item in top 10 suggestions (%), test set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Hit@10 (%)</c:v>
                </c:pt>
              </c:strCache>
            </c:strRef>
          </c:tx>
          <c:spPr>
            <a:solidFill>
              <a:srgbClr val="A9C7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7FB89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1F6F54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Popularity</c:v>
                  </c:pt>
                  <c:pt idx="1">
                    <c:v>Co-purchase</c:v>
                  </c:pt>
                  <c:pt idx="2">
                    <c:v>Repeat purchase</c:v>
                  </c:pt>
                  <c:pt idx="3">
                    <c:v>ALS</c:v>
                  </c:pt>
                  <c:pt idx="4">
                    <c:v>ItemKNN</c:v>
                  </c:pt>
                  <c:pt idx="5">
                    <c:v>EASE</c:v>
                  </c:pt>
                  <c:pt idx="6">
                    <c:v>MarginGraph ranker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3.1</c:v>
                </c:pt>
                <c:pt idx="1">
                  <c:v>13.1</c:v>
                </c:pt>
                <c:pt idx="2">
                  <c:v>13.9</c:v>
                </c:pt>
                <c:pt idx="3">
                  <c:v>17.3</c:v>
                </c:pt>
                <c:pt idx="4">
                  <c:v>22.7</c:v>
                </c:pt>
                <c:pt idx="5">
                  <c:v>31.1</c:v>
                </c:pt>
                <c:pt idx="6">
                  <c:v>35.6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2352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2352B"/>
                </a:solidFill>
                <a:latin typeface="+mn-lt"/>
              </a:rPr>
              <a:t>Realized gross profit, £ per basket (simulated cost)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Realized profit (£ per basket)</c:v>
                </c:pt>
              </c:strCache>
            </c:strRef>
          </c:tx>
          <c:spPr>
            <a:solidFill>
              <a:srgbClr val="A9C7B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7B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89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F6F5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F6F5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Popularity top 2</c:v>
                  </c:pt>
                  <c:pt idx="1">
                    <c:v>Co-purchase top 2</c:v>
                  </c:pt>
                  <c:pt idx="2">
                    <c:v>Ranker top 2</c:v>
                  </c:pt>
                  <c:pt idx="3">
                    <c:v>Optimizer λ=0.5</c:v>
                  </c:pt>
                  <c:pt idx="4">
                    <c:v>Optimizer λ=1.0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0.013</c:v>
                </c:pt>
                <c:pt idx="1">
                  <c:v>0.07</c:v>
                </c:pt>
                <c:pt idx="2">
                  <c:v>0.184</c:v>
                </c:pt>
                <c:pt idx="3">
                  <c:v>0.215</c:v>
                </c:pt>
                <c:pt idx="4">
                  <c:v>0.224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6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MarginGraph picks up to two add-on products at checkout. It chooses items the shopper is likely to buy and that earn the store money, and it never suggests anything below a 15% margin. Everything in this deck comes from experiments on real store data; where something is simulated or a target, the slide says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recommenders are built to maximize clicks. That pushes cheap popular items, ignores margin, and does nothing about overstock. The store pays for that in profit.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design choice is to let each part do what it is good at. The ranker never sees money; the optimizer never guesses relevance. Business rules are enforced by plain code, so they hold even if a model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1a builds a shortlist of up to 100 products from six standard methods. Stage 1b, a LightGBM LambdaRank model, sorts it and calibrates scores into purchase probabilities. Stage 2 solves a tiny integer program over the top 20 in about 3 milliseconds.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is real: real baskets and real prices from a UK gift store. The test is honest: a time split, a hidden item per basket, and confidence intervals on every comparison. 7.1% of test items never appeared before, so no model can exceed 92.9%.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4,480 real test baskets the LightGBM ranker puts the hidden item in its top 10 35.6% of the time, against 31.1% for EASE, the strongest standard method. The gain of 4.5 points has a confidence interval well above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Realized profit only counts the item the customer really bought. At lambda 0.5 the optimizer earns 17% more per basket than showing the ranker's top two, for about one point fewer hits, and with zero margin-floor breaks. Be clear: unit cost and stock were simulated because the public dataset does not include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cost is simulated we stress-tested it: nine combinations of margin distribution and random seed, and the gain stayed positive in all of them. The solver is exact and fast. The overstock weight is a single store setting that trades a little profit for faster clearance.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idea was LLM personalization. We tested it properly and it did not win, so LightGBM stays the ranker. This is a strength of the project: every claim has to pass a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 self-contained Gradio app that runs on a free Hugging Face Space. It has four tabs: a demo store, merchant CSV upload and training, a backtest, and the API. It is built; the public link is pending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LightGBM and PuLP both run on a single CPU, so serving costs nothing on free tiers. A fallback means the shop page never breaks even if the model or solver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plans are hypotheses to test with pilot stores. The performance plan is the strongest pitch: the store's own A/B test decides what it pays.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M1 is underway now. The step that matters most for the business is M3: real unit cost and stock from a store turn the simulated profit result into a real one. M4 is the A/B test with a decision rule fixed in advance.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this slide. It builds trust with store owners and reviewers: the relevance result is real, the profit result depends on cost and stock data that only a real store can provide.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 ask. We want a few small online stores to run a free pilot. They give us real cost and stock data; we give them the system and an honest case study. Also welcome: feedback from retail and data-science reviewers.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G_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G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MarginGraph  · 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G_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MarginGraph  ·  October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hyperlink" Target="https://github.com/Sanskar1724/MarginGraph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MarginGraph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Checkout add-ons that shoppers buy and that keep the store's margin safe</a:t>
            </a:r>
            <a:endParaRPr lang="en-US" sz="2200" dirty="0"/>
          </a:p>
        </p:txBody>
      </p:sp>
      <p:sp>
        <p:nvSpPr>
          <p:cNvPr id="4" name="basket icon circle"/>
          <p:cNvSpPr/>
          <p:nvPr/>
        </p:nvSpPr>
        <p:spPr>
          <a:xfrm>
            <a:off x="731520" y="960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asket icon" descr="baske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1887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Recommendation + margin optimization for online retail  ·  Pitch deck, October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“Customers also bought” optimizes clicks, not profit</a:t>
            </a:r>
            <a:endParaRPr lang="en-US" sz="3400" dirty="0"/>
          </a:p>
        </p:txBody>
      </p:sp>
      <p:sp>
        <p:nvSpPr>
          <p:cNvPr id="3" name="problem card 1"/>
          <p:cNvSpPr/>
          <p:nvPr/>
        </p:nvSpPr>
        <p:spPr>
          <a:xfrm>
            <a:off x="548640" y="1600200"/>
            <a:ext cx="2578608" cy="39319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4" name="Low-profit suggestions icon circle"/>
          <p:cNvSpPr/>
          <p:nvPr/>
        </p:nvSpPr>
        <p:spPr>
          <a:xfrm>
            <a:off x="822960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Low-profit suggestions icon" descr="Low-profit suggestions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06883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Low-profit suggestions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576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Cheap best sellers get clicked, but they earn the store very little.</a:t>
            </a:r>
            <a:endParaRPr lang="en-US" sz="1500" dirty="0"/>
          </a:p>
        </p:txBody>
      </p:sp>
      <p:sp>
        <p:nvSpPr>
          <p:cNvPr id="8" name="problem card 2"/>
          <p:cNvSpPr/>
          <p:nvPr/>
        </p:nvSpPr>
        <p:spPr>
          <a:xfrm>
            <a:off x="3364992" y="1600200"/>
            <a:ext cx="2578608" cy="39319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9" name="Margin leaks icon circle"/>
          <p:cNvSpPr/>
          <p:nvPr/>
        </p:nvSpPr>
        <p:spPr>
          <a:xfrm>
            <a:off x="3639312" y="187452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Margin leaks icon" descr="Margin leak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3622" y="206883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9312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leaks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36576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Suggested items can sit below a healthy margin, especially after discounts.</a:t>
            </a:r>
            <a:endParaRPr lang="en-US" sz="1500" dirty="0"/>
          </a:p>
        </p:txBody>
      </p:sp>
      <p:sp>
        <p:nvSpPr>
          <p:cNvPr id="13" name="problem card 3"/>
          <p:cNvSpPr/>
          <p:nvPr/>
        </p:nvSpPr>
        <p:spPr>
          <a:xfrm>
            <a:off x="6181344" y="1600200"/>
            <a:ext cx="2578608" cy="39319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14" name="Overstock icon circle"/>
          <p:cNvSpPr/>
          <p:nvPr/>
        </p:nvSpPr>
        <p:spPr>
          <a:xfrm>
            <a:off x="6455664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Overstock icon" descr="Oversto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74" y="206883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55664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Overstock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55664" y="36576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Slow items tie up cash in the warehouse until a heavy markdown.</a:t>
            </a:r>
            <a:endParaRPr lang="en-US" sz="1500" dirty="0"/>
          </a:p>
        </p:txBody>
      </p:sp>
      <p:sp>
        <p:nvSpPr>
          <p:cNvPr id="18" name="problem card 4"/>
          <p:cNvSpPr/>
          <p:nvPr/>
        </p:nvSpPr>
        <p:spPr>
          <a:xfrm>
            <a:off x="8997696" y="1600200"/>
            <a:ext cx="2578608" cy="39319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19" name="Generic for everyone icon circle"/>
          <p:cNvSpPr/>
          <p:nvPr/>
        </p:nvSpPr>
        <p:spPr>
          <a:xfrm>
            <a:off x="9272016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Generic for everyone icon" descr="Generic for everyone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6326" y="2068830"/>
            <a:ext cx="388620" cy="3886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72016" y="28803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for everyone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272016" y="365760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shopper sees the same items, so relevance and clicks stay low.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A relevant item can still be a bad suggestion if its margin is thin or its stock is already low.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ranker for relevance, an optimizer for profit</a:t>
            </a:r>
            <a:endParaRPr lang="en-US" sz="3400" dirty="0"/>
          </a:p>
        </p:txBody>
      </p:sp>
      <p:sp>
        <p:nvSpPr>
          <p:cNvPr id="3" name="solution icon 1 circle"/>
          <p:cNvSpPr/>
          <p:nvPr/>
        </p:nvSpPr>
        <p:spPr>
          <a:xfrm>
            <a:off x="548640" y="15544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 1" descr="solution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53619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Ranker decides what is relevant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737360" y="1965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LightGBM learns from the store's own baskets which products go together, and gives each candidate a calibrated chance of purchase.</a:t>
            </a:r>
            <a:endParaRPr lang="en-US" sz="1500" dirty="0"/>
          </a:p>
        </p:txBody>
      </p:sp>
      <p:sp>
        <p:nvSpPr>
          <p:cNvPr id="7" name="solution icon 2 circle"/>
          <p:cNvSpPr/>
          <p:nvPr/>
        </p:nvSpPr>
        <p:spPr>
          <a:xfrm>
            <a:off x="548640" y="30175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solution icon 2" descr="solution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461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37360" y="299923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Optimizer decides what to show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737360" y="34290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 small integer program picks the 2 add-ons with the most expected profit, with an overstock push the store controls.</a:t>
            </a:r>
            <a:endParaRPr lang="en-US" sz="1500" dirty="0"/>
          </a:p>
        </p:txBody>
      </p:sp>
      <p:sp>
        <p:nvSpPr>
          <p:cNvPr id="11" name="solution icon 3 circle"/>
          <p:cNvSpPr/>
          <p:nvPr/>
        </p:nvSpPr>
        <p:spPr>
          <a:xfrm>
            <a:off x="548640" y="44805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solution icon 3" descr="solution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0916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4462272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Hard rules live in code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737360" y="489204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15% margin floor, at most 2 add-ons, no out-of-stock items. No model ever sets a price or overrides the floor.</a:t>
            </a:r>
            <a:endParaRPr lang="en-US" sz="1500" dirty="0"/>
          </a:p>
        </p:txBody>
      </p:sp>
      <p:sp>
        <p:nvSpPr>
          <p:cNvPr id="15" name="promise card"/>
          <p:cNvSpPr/>
          <p:nvPr/>
        </p:nvSpPr>
        <p:spPr>
          <a:xfrm>
            <a:off x="7680960" y="1554480"/>
            <a:ext cx="3931920" cy="420624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001000" y="18288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The promise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2286000"/>
            <a:ext cx="3291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Suggestions that sell and keep your margin, with a hard floor you control.</a:t>
            </a:r>
            <a:endParaRPr lang="en-US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8001000" y="43434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One slider (λ) sets the balance between pure relevance (0) and expected profit (1).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basket to two margin-safe add-ons</a:t>
            </a:r>
            <a:endParaRPr lang="en-US" sz="3400" dirty="0"/>
          </a:p>
        </p:txBody>
      </p:sp>
      <p:sp>
        <p:nvSpPr>
          <p:cNvPr id="3" name="step card 1"/>
          <p:cNvSpPr/>
          <p:nvPr/>
        </p:nvSpPr>
        <p:spPr>
          <a:xfrm>
            <a:off x="548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4" name="Basket icon circle"/>
          <p:cNvSpPr/>
          <p:nvPr/>
        </p:nvSpPr>
        <p:spPr>
          <a:xfrm>
            <a:off x="1115568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asket icon" descr="Baske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1308" y="217170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Basket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Items in the cart, plus history if the customer is known</a:t>
            </a:r>
            <a:endParaRPr lang="en-US" sz="1400" dirty="0"/>
          </a:p>
        </p:txBody>
      </p:sp>
      <p:sp>
        <p:nvSpPr>
          <p:cNvPr id="8" name="arrow 1"/>
          <p:cNvSpPr/>
          <p:nvPr/>
        </p:nvSpPr>
        <p:spPr>
          <a:xfrm>
            <a:off x="2560320" y="3218688"/>
            <a:ext cx="237744" cy="329184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9" name="step card 2"/>
          <p:cNvSpPr/>
          <p:nvPr/>
        </p:nvSpPr>
        <p:spPr>
          <a:xfrm>
            <a:off x="2834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0" name="Shortlist icon circle"/>
          <p:cNvSpPr/>
          <p:nvPr/>
        </p:nvSpPr>
        <p:spPr>
          <a:xfrm>
            <a:off x="3401568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hortlist icon" descr="Shortlis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308" y="21717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71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Shortlist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971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EASE, ItemKNN, ALS, repeat, co-purchase, popularity: up to 100 items</a:t>
            </a:r>
            <a:endParaRPr lang="en-US" sz="1400" dirty="0"/>
          </a:p>
        </p:txBody>
      </p:sp>
      <p:sp>
        <p:nvSpPr>
          <p:cNvPr id="14" name="arrow 2"/>
          <p:cNvSpPr/>
          <p:nvPr/>
        </p:nvSpPr>
        <p:spPr>
          <a:xfrm>
            <a:off x="4846320" y="3218688"/>
            <a:ext cx="237744" cy="329184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15" name="step card 3"/>
          <p:cNvSpPr/>
          <p:nvPr/>
        </p:nvSpPr>
        <p:spPr>
          <a:xfrm>
            <a:off x="5120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6" name="LightGBM ranker icon circle"/>
          <p:cNvSpPr/>
          <p:nvPr/>
        </p:nvSpPr>
        <p:spPr>
          <a:xfrm>
            <a:off x="5687568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LightGBM ranker icon" descr="LightGBM ranker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2171700"/>
            <a:ext cx="411480" cy="4114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257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LightGBM ranker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257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~20 features, LambdaRank, isotonic calibration: top 20</a:t>
            </a:r>
            <a:endParaRPr lang="en-US" sz="1400" dirty="0"/>
          </a:p>
        </p:txBody>
      </p:sp>
      <p:sp>
        <p:nvSpPr>
          <p:cNvPr id="20" name="arrow 3"/>
          <p:cNvSpPr/>
          <p:nvPr/>
        </p:nvSpPr>
        <p:spPr>
          <a:xfrm>
            <a:off x="7132320" y="3218688"/>
            <a:ext cx="237744" cy="329184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21" name="step card 4"/>
          <p:cNvSpPr/>
          <p:nvPr/>
        </p:nvSpPr>
        <p:spPr>
          <a:xfrm>
            <a:off x="7406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tx2"/>
          </a:solidFill>
          <a:ln/>
        </p:spPr>
      </p:sp>
      <p:sp>
        <p:nvSpPr>
          <p:cNvPr id="22" name="PuLP optimizer icon circle"/>
          <p:cNvSpPr/>
          <p:nvPr/>
        </p:nvSpPr>
        <p:spPr>
          <a:xfrm>
            <a:off x="7973568" y="196596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PuLP optimizer icon" descr="PuLP optimizer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9308" y="21717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543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PuLP optimizer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7543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Max expected profit, 15% floor, max 2, stock rules</a:t>
            </a:r>
            <a:endParaRPr lang="en-US" sz="1400" dirty="0"/>
          </a:p>
        </p:txBody>
      </p:sp>
      <p:sp>
        <p:nvSpPr>
          <p:cNvPr id="26" name="arrow 4"/>
          <p:cNvSpPr/>
          <p:nvPr/>
        </p:nvSpPr>
        <p:spPr>
          <a:xfrm>
            <a:off x="9418320" y="3218688"/>
            <a:ext cx="237744" cy="329184"/>
          </a:xfrm>
          <a:prstGeom prst="chevron">
            <a:avLst/>
          </a:prstGeom>
          <a:solidFill>
            <a:schemeClr val="accent3"/>
          </a:solidFill>
          <a:ln/>
        </p:spPr>
      </p:sp>
      <p:sp>
        <p:nvSpPr>
          <p:cNvPr id="27" name="step card 5"/>
          <p:cNvSpPr/>
          <p:nvPr/>
        </p:nvSpPr>
        <p:spPr>
          <a:xfrm>
            <a:off x="9692640" y="1737360"/>
            <a:ext cx="1965960" cy="329184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28" name="Add-ons icon circle"/>
          <p:cNvSpPr/>
          <p:nvPr/>
        </p:nvSpPr>
        <p:spPr>
          <a:xfrm>
            <a:off x="10259568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Add-ons icon" descr="Add-on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5308" y="2171700"/>
            <a:ext cx="411480" cy="41148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829800" y="29260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Add-ons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9829800" y="3429000"/>
            <a:ext cx="1691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 to 2 suggestions, with a best-seller fallback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548640" y="5349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maximize  Σ x·p·[(1−λ)·P̄ + λ·w·(price − cost)]   subject to  ≤ 2 add-ons,  margin ≥ 15%,  in stock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 = calibrated purchase chance, w = overstock weight 1.0–2.0, P̄ = mean unit profit. Full model in optimize.py.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on two years of real UK store sales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1.07M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raw invoice lines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(UCI Online Retail II, 2009–2011)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39,516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338328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invoices after cleaning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21792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4,707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products in the catalog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6916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4,480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905256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real test baskets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(Oct–Dec 2011)</a:t>
            </a:r>
            <a:endParaRPr lang="en-US" sz="1400" dirty="0"/>
          </a:p>
        </p:txBody>
      </p:sp>
      <p:sp>
        <p:nvSpPr>
          <p:cNvPr id="11" name="method card"/>
          <p:cNvSpPr/>
          <p:nvPr/>
        </p:nvSpPr>
        <p:spPr>
          <a:xfrm>
            <a:off x="548640" y="393192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C4A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16052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How we test: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split by date so the model never sees the future. In each test basket one item is hidden; the system sees the rest and must suggest it. Every comparison is paired on the same baskets with a 95% bootstrap confidence interval.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6"/>
                </a:solidFill>
              </a:rPr>
              <a:t>Before building anything we checked the signal: co-purchase finds the hidden item 16.1% of the time on real baskets vs 4.4% on shuffled ones.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ranker beats every standard method</a:t>
            </a:r>
            <a:endParaRPr lang="en-US" sz="3400" dirty="0"/>
          </a:p>
        </p:txBody>
      </p:sp>
      <p:graphicFrame>
        <p:nvGraphicFramePr>
          <p:cNvPr id="3" name="Hit@10 chart" descr=""/>
          <p:cNvGraphicFramePr/>
          <p:nvPr/>
        </p:nvGraphicFramePr>
        <p:xfrm>
          <a:off x="548640" y="1463040"/>
          <a:ext cx="694944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46720" y="155448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+4.5 pts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468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Hit@10 over EASE, the best standard method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95% CI [3.6, 5.5]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34290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0.217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43434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NDCG@10 vs 0.188 for EASE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95% CI of the gain [0.023, 0.035]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Measured, real baskets. Shortlist recall@100 = 58.0%, which caps any ranker.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profit per basket, zero floor breaks</a:t>
            </a:r>
            <a:endParaRPr lang="en-US" sz="3400" dirty="0"/>
          </a:p>
        </p:txBody>
      </p:sp>
      <p:graphicFrame>
        <p:nvGraphicFramePr>
          <p:cNvPr id="3" name="profit chart" descr=""/>
          <p:cNvGraphicFramePr/>
          <p:nvPr/>
        </p:nvGraphicFramePr>
        <p:xfrm>
          <a:off x="548640" y="146304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046720" y="1417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+17%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8046720" y="2331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profit per basket at λ=0.5 vs the ranker's top 2,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for 1.1 pts fewer hits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29718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+22%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38862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profit at λ=1.0, for 3.7 pts fewer hits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34340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52578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margin-floor breaks, vs 0.038 per basket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for the ranker's top 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Simulated: the dataset has real prices but no unit cost or stock, so cost and stock are simulated. Profit claims need a real store to confirm.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 holds when we change the assumptions</a:t>
            </a:r>
            <a:endParaRPr lang="en-US" sz="3400" dirty="0"/>
          </a:p>
        </p:txBody>
      </p:sp>
      <p:sp>
        <p:nvSpPr>
          <p:cNvPr id="3" name="robustness card 1"/>
          <p:cNvSpPr/>
          <p:nvPr/>
        </p:nvSpPr>
        <p:spPr>
          <a:xfrm>
            <a:off x="548640" y="150876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cost scenarios keep a positive profit gain icon circle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ost scenarios keep a positive profit gain icon" descr="cost scenarios keep a positive profit gai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7099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of 9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2585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cost scenarios keep a positive profit gain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6060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3 margin distributions × 3 seeds; gain +£0.015 to +£0.062 per basket, every CI above zero</a:t>
            </a:r>
            <a:endParaRPr lang="en-US" sz="1400" dirty="0"/>
          </a:p>
        </p:txBody>
      </p:sp>
      <p:sp>
        <p:nvSpPr>
          <p:cNvPr id="9" name="robustness card 2"/>
          <p:cNvSpPr/>
          <p:nvPr/>
        </p:nvSpPr>
        <p:spPr>
          <a:xfrm>
            <a:off x="6172200" y="150876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0" name="problems solved exactly icon circle"/>
          <p:cNvSpPr/>
          <p:nvPr/>
        </p:nvSpPr>
        <p:spPr>
          <a:xfrm>
            <a:off x="644652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problems solved exactly icon" descr="problems solved exactly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96596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06640" y="170992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600 / 600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7406640" y="225856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problems solved exactly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260604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PuLP (HiGHS) matches brute-force enumeration on every test problem</a:t>
            </a:r>
            <a:endParaRPr lang="en-US" sz="1400" dirty="0"/>
          </a:p>
        </p:txBody>
      </p:sp>
      <p:sp>
        <p:nvSpPr>
          <p:cNvPr id="15" name="robustness card 3"/>
          <p:cNvSpPr/>
          <p:nvPr/>
        </p:nvSpPr>
        <p:spPr>
          <a:xfrm>
            <a:off x="548640" y="3749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6" name="mean optimizer solve time icon circle"/>
          <p:cNvSpPr/>
          <p:nvPr/>
        </p:nvSpPr>
        <p:spPr>
          <a:xfrm>
            <a:off x="822960" y="4023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mean optimizer solve time icon" descr="mean optimizer solve tim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0624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83080" y="39502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 ms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1783080" y="44988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mean optimizer solve time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783080" y="48463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Solver step only; end-to-end API latency is not benchmarked yet</a:t>
            </a:r>
            <a:endParaRPr lang="en-US" sz="1400" dirty="0"/>
          </a:p>
        </p:txBody>
      </p:sp>
      <p:sp>
        <p:nvSpPr>
          <p:cNvPr id="21" name="robustness card 4"/>
          <p:cNvSpPr/>
          <p:nvPr/>
        </p:nvSpPr>
        <p:spPr>
          <a:xfrm>
            <a:off x="6172200" y="3749040"/>
            <a:ext cx="54406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2" name="overstock units cleared icon circle"/>
          <p:cNvSpPr/>
          <p:nvPr/>
        </p:nvSpPr>
        <p:spPr>
          <a:xfrm>
            <a:off x="6446520" y="40233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overstock units cleared icon" descr="overstock units cleare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20624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406640" y="395020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114 vs 74</a:t>
            </a:r>
            <a:endParaRPr lang="en-US" sz="3000" dirty="0"/>
          </a:p>
        </p:txBody>
      </p:sp>
      <p:sp>
        <p:nvSpPr>
          <p:cNvPr id="25" name="Text 19"/>
          <p:cNvSpPr txBox="1"/>
          <p:nvPr/>
        </p:nvSpPr>
        <p:spPr>
          <a:xfrm>
            <a:off x="7406640" y="44988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overstock units cleared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7406640" y="48463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Overstock weight 2.0 vs 1.0 in a stock replay, for 3.7% less profit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LLM ranker lost to the trained model</a:t>
            </a:r>
            <a:endParaRPr lang="en-US" sz="3400" dirty="0"/>
          </a:p>
        </p:txBody>
      </p:sp>
      <p:graphicFrame>
        <p:nvGraphicFramePr>
          <p:cNvPr id="10" name="LLM resul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2237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05840"/>
                <a:gridCol w="2011680"/>
                <a:gridCol w="10058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(1,000 paired baskets)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Hit@5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LightGBM 27.6%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Qwen2.5-1.5B, zero-shot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−10.8 [−13.7, −7.9]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Qwen2.5-1.5B blended with LightGBM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−4.4 [−6.5, −2.4]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Qwen2.5-3B, zero-shot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−11.0 [−13.7, −8.4]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Qwen2.5-3B as an extra 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−0.1 [−0.6, +0.3]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9C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lesson card"/>
          <p:cNvSpPr/>
          <p:nvPr/>
        </p:nvSpPr>
        <p:spPr>
          <a:xfrm>
            <a:off x="8138160" y="1508760"/>
            <a:ext cx="3474720" cy="420624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5" name="lesson icon circle"/>
          <p:cNvSpPr/>
          <p:nvPr/>
        </p:nvSpPr>
        <p:spPr>
          <a:xfrm>
            <a:off x="8412480" y="178308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lesson icon" descr="lesso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96596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41248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tells us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841248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general LLM reading product names knows less about this store's buying patterns than a model trained on its baskets. A bigger model did not help.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412480" y="46177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Next: a LoRA fine-tune on free Kaggle GPUs. If it also loses, the LLM's role is new products and plain-language explanations, not ranking.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34340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We publish failures too. A feature only ships when it beats the current model with a confidence interval above zero.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Run on a free Kaggle T4 GPU, 2026-10-26, on the same top-20 shortlists as LightGBM.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free web demo a store owner can try</a:t>
            </a:r>
            <a:endParaRPr lang="en-US" sz="3400" dirty="0"/>
          </a:p>
        </p:txBody>
      </p:sp>
      <p:sp>
        <p:nvSpPr>
          <p:cNvPr id="3" name="Demo store icon circle"/>
          <p:cNvSpPr/>
          <p:nvPr/>
        </p:nvSpPr>
        <p:spPr>
          <a:xfrm>
            <a:off x="54864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Demo store icon" descr="Demo stor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365760" cy="365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08760" y="15087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store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508760" y="1874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Build a basket, see the 2 add-ons and why each was picked, with its margin.</a:t>
            </a:r>
            <a:endParaRPr lang="en-US" sz="1400" dirty="0"/>
          </a:p>
        </p:txBody>
      </p:sp>
      <p:sp>
        <p:nvSpPr>
          <p:cNvPr id="7" name="Your own data icon circle"/>
          <p:cNvSpPr/>
          <p:nvPr/>
        </p:nvSpPr>
        <p:spPr>
          <a:xfrm>
            <a:off x="548640" y="258775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Your own data icon" descr="Your own data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70632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5877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own data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508760" y="29535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Upload an order CSV, train on it, and score baskets in batch.</a:t>
            </a:r>
            <a:endParaRPr lang="en-US" sz="1400" dirty="0"/>
          </a:p>
        </p:txBody>
      </p:sp>
      <p:sp>
        <p:nvSpPr>
          <p:cNvPr id="11" name="Backtest icon circle"/>
          <p:cNvSpPr/>
          <p:nvPr/>
        </p:nvSpPr>
        <p:spPr>
          <a:xfrm>
            <a:off x="548640" y="3666744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Backtest icon" descr="Backtes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49624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508760" y="366674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Backtest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508760" y="403250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Replay past baskets and compare profit against plain top-2 suggestions.</a:t>
            </a:r>
            <a:endParaRPr lang="en-US" sz="1400" dirty="0"/>
          </a:p>
        </p:txBody>
      </p:sp>
      <p:sp>
        <p:nvSpPr>
          <p:cNvPr id="15" name="API icon circle"/>
          <p:cNvSpPr/>
          <p:nvPr/>
        </p:nvSpPr>
        <p:spPr>
          <a:xfrm>
            <a:off x="548640" y="4745736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API icon" descr="API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928616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08760" y="474573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508760" y="511149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 /recommend returns add-ons as JSON for a shop to call.</a:t>
            </a:r>
            <a:endParaRPr lang="en-US" sz="1400" dirty="0"/>
          </a:p>
        </p:txBody>
      </p:sp>
      <p:sp>
        <p:nvSpPr>
          <p:cNvPr id="19" name="demo mock card"/>
          <p:cNvSpPr/>
          <p:nvPr/>
        </p:nvSpPr>
        <p:spPr>
          <a:xfrm>
            <a:off x="6675120" y="1508760"/>
            <a:ext cx="49377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6995160" y="1737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Your basket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6995160" y="20574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Woodland party paper cups  ·  Woodland napkins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995160" y="26517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Suggested add-ons</a:t>
            </a:r>
            <a:endParaRPr lang="en-US" sz="1400" dirty="0"/>
          </a:p>
        </p:txBody>
      </p:sp>
      <p:sp>
        <p:nvSpPr>
          <p:cNvPr id="23" name="mock add-on 1"/>
          <p:cNvSpPr/>
          <p:nvPr/>
        </p:nvSpPr>
        <p:spPr>
          <a:xfrm>
            <a:off x="6995160" y="3017520"/>
            <a:ext cx="4297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9525">
            <a:solidFill>
              <a:srgbClr val="A9C7B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78040" y="31272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Woodland paper plates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7178040" y="3474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Bought together often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969264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margin ≥ 15% ✓</a:t>
            </a:r>
            <a:endParaRPr lang="en-US" sz="1300" dirty="0"/>
          </a:p>
        </p:txBody>
      </p:sp>
      <p:sp>
        <p:nvSpPr>
          <p:cNvPr id="27" name="mock add-on 2"/>
          <p:cNvSpPr/>
          <p:nvPr/>
        </p:nvSpPr>
        <p:spPr>
          <a:xfrm>
            <a:off x="6995160" y="4069080"/>
            <a:ext cx="4297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9525">
            <a:solidFill>
              <a:srgbClr val="A9C7B8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178040" y="4178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Party bunting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7178040" y="4526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Overstock push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4343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margin ≥ 15% ✓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6995160" y="5349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Illustration of the demo screen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Built as a Gradio app for Hugging Face Spaces (free CPU). The public link goes live once the Space is deployed.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 one CPU and free hosting</a:t>
            </a:r>
            <a:endParaRPr lang="en-US" sz="3400" dirty="0"/>
          </a:p>
        </p:txBody>
      </p:sp>
      <p:sp>
        <p:nvSpPr>
          <p:cNvPr id="3" name="architecture card 1"/>
          <p:cNvSpPr/>
          <p:nvPr/>
        </p:nvSpPr>
        <p:spPr>
          <a:xfrm>
            <a:off x="548640" y="1554480"/>
            <a:ext cx="2578608" cy="30175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4" name="Store connector icon circle"/>
          <p:cNvSpPr/>
          <p:nvPr/>
        </p:nvSpPr>
        <p:spPr>
          <a:xfrm>
            <a:off x="822960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Store connector icon" descr="Store connecto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659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connector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154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Shopify or WooCommerce webhooks: products, prices, orders, stock</a:t>
            </a:r>
            <a:endParaRPr lang="en-US" sz="1400" dirty="0"/>
          </a:p>
        </p:txBody>
      </p:sp>
      <p:sp>
        <p:nvSpPr>
          <p:cNvPr id="8" name="architecture card 2"/>
          <p:cNvSpPr/>
          <p:nvPr/>
        </p:nvSpPr>
        <p:spPr>
          <a:xfrm>
            <a:off x="3364992" y="1554480"/>
            <a:ext cx="2578608" cy="30175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9" name="FastAPI service icon circle"/>
          <p:cNvSpPr/>
          <p:nvPr/>
        </p:nvSpPr>
        <p:spPr>
          <a:xfrm>
            <a:off x="3639312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astAPI service icon" descr="FastAPI servic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192" y="19659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9312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FastAPI service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9312" y="3154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Docker, stateless, POST /recommend, fallback to margin-safe best sellers</a:t>
            </a:r>
            <a:endParaRPr lang="en-US" sz="1400" dirty="0"/>
          </a:p>
        </p:txBody>
      </p:sp>
      <p:sp>
        <p:nvSpPr>
          <p:cNvPr id="13" name="architecture card 3"/>
          <p:cNvSpPr/>
          <p:nvPr/>
        </p:nvSpPr>
        <p:spPr>
          <a:xfrm>
            <a:off x="6181344" y="1554480"/>
            <a:ext cx="2578608" cy="30175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14" name="Data icon circle"/>
          <p:cNvSpPr/>
          <p:nvPr/>
        </p:nvSpPr>
        <p:spPr>
          <a:xfrm>
            <a:off x="6455664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Data icon" descr="Data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544" y="19659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55664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55664" y="3154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Postgres for catalog, cost, stock and logs; Redis for candidate lists</a:t>
            </a:r>
            <a:endParaRPr lang="en-US" sz="1400" dirty="0"/>
          </a:p>
        </p:txBody>
      </p:sp>
      <p:sp>
        <p:nvSpPr>
          <p:cNvPr id="18" name="architecture card 4"/>
          <p:cNvSpPr/>
          <p:nvPr/>
        </p:nvSpPr>
        <p:spPr>
          <a:xfrm>
            <a:off x="8997696" y="1554480"/>
            <a:ext cx="2578608" cy="3017520"/>
          </a:xfrm>
          <a:prstGeom prst="roundRect">
            <a:avLst>
              <a:gd name="adj" fmla="val 4255"/>
            </a:avLst>
          </a:prstGeom>
          <a:solidFill>
            <a:schemeClr val="bg2"/>
          </a:solidFill>
          <a:ln/>
        </p:spPr>
      </p:sp>
      <p:sp>
        <p:nvSpPr>
          <p:cNvPr id="19" name="Nightly retrain icon circle"/>
          <p:cNvSpPr/>
          <p:nvPr/>
        </p:nvSpPr>
        <p:spPr>
          <a:xfrm>
            <a:off x="9272016" y="178308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Nightly retrain icon" descr="Nightly retrai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54896" y="196596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72016" y="26974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Nightly retrain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72016" y="3154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GitHub Actions cron retrains EASE + LightGBM, writes a model bundle</a:t>
            </a:r>
            <a:endParaRPr lang="en-US" sz="1400" dirty="0"/>
          </a:p>
        </p:txBody>
      </p:sp>
      <p:sp>
        <p:nvSpPr>
          <p:cNvPr id="23" name="free stack card"/>
          <p:cNvSpPr/>
          <p:nvPr/>
        </p:nvSpPr>
        <p:spPr>
          <a:xfrm>
            <a:off x="548640" y="4846320"/>
            <a:ext cx="11064240" cy="96012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2296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Free stack: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Hugging Face Spaces or Render · Supabase or Neon Postgres · Upstash Redis · GitHub Actions · Grafana Cloud free tier. LLM steps, if any, run offline on Kaggle or Colab, never on the live path.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Plan from ROADMAP.md. The production API and store connectors are in progress.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model: pay for proven gains</a:t>
            </a:r>
            <a:endParaRPr lang="en-US" sz="3400" dirty="0"/>
          </a:p>
        </p:txBody>
      </p:sp>
      <p:sp>
        <p:nvSpPr>
          <p:cNvPr id="3" name="plan card 1"/>
          <p:cNvSpPr/>
          <p:nvPr/>
        </p:nvSpPr>
        <p:spPr>
          <a:xfrm>
            <a:off x="548640" y="1554480"/>
            <a:ext cx="3474720" cy="39319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783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Small shops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92608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Fixed monthly request quota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Margin-safe best-seller fallback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Basic dashboard</a:t>
            </a:r>
            <a:endParaRPr lang="en-US" sz="1500" dirty="0"/>
          </a:p>
        </p:txBody>
      </p:sp>
      <p:sp>
        <p:nvSpPr>
          <p:cNvPr id="7" name="plan card 2"/>
          <p:cNvSpPr/>
          <p:nvPr/>
        </p:nvSpPr>
        <p:spPr>
          <a:xfrm>
            <a:off x="4297680" y="1554480"/>
            <a:ext cx="3474720" cy="39319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1783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Growing shops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2608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Full optimizer and overstock push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A/B test reports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Flat monthly fee</a:t>
            </a:r>
            <a:endParaRPr lang="en-US" sz="1500" dirty="0"/>
          </a:p>
        </p:txBody>
      </p:sp>
      <p:sp>
        <p:nvSpPr>
          <p:cNvPr id="11" name="plan card 3"/>
          <p:cNvSpPr/>
          <p:nvPr/>
        </p:nvSpPr>
        <p:spPr>
          <a:xfrm>
            <a:off x="8046720" y="1554480"/>
            <a:ext cx="3474720" cy="3931920"/>
          </a:xfrm>
          <a:prstGeom prst="roundRect">
            <a:avLst>
              <a:gd name="adj" fmla="val 3158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66760" y="1783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377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Larger shops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92608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Share of the extra profit measured by the store's own A/B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store pays only for proven gains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To be tested with pilot stores. Pricing is not set and nothing here is proven yet.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Roadmap: from target to measured result</a:t>
            </a:r>
            <a:endParaRPr lang="en-US" sz="3400" dirty="0"/>
          </a:p>
        </p:txBody>
      </p:sp>
      <p:sp>
        <p:nvSpPr>
          <p:cNvPr id="3" name="timeline"/>
          <p:cNvSpPr/>
          <p:nvPr/>
        </p:nvSpPr>
        <p:spPr>
          <a:xfrm>
            <a:off x="914400" y="2331720"/>
            <a:ext cx="10332720" cy="0"/>
          </a:xfrm>
          <a:prstGeom prst="line">
            <a:avLst/>
          </a:prstGeom>
          <a:noFill/>
          <a:ln w="25400">
            <a:solidFill>
              <a:srgbClr val="7FB89E"/>
            </a:solidFill>
            <a:prstDash val="solid"/>
          </a:ln>
        </p:spPr>
      </p:sp>
      <p:sp>
        <p:nvSpPr>
          <p:cNvPr id="4" name="M1 marker"/>
          <p:cNvSpPr/>
          <p:nvPr/>
        </p:nvSpPr>
        <p:spPr>
          <a:xfrm>
            <a:off x="1097280" y="1965960"/>
            <a:ext cx="731520" cy="731520"/>
          </a:xfrm>
          <a:prstGeom prst="ellipse">
            <a:avLst/>
          </a:prstGeom>
          <a:solidFill>
            <a:schemeClr val="accent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complete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LoRA fine-tune run, API latency benchmarked</a:t>
            </a:r>
            <a:endParaRPr lang="en-US" sz="1400" dirty="0"/>
          </a:p>
        </p:txBody>
      </p:sp>
      <p:sp>
        <p:nvSpPr>
          <p:cNvPr id="8" name="M2 marker"/>
          <p:cNvSpPr/>
          <p:nvPr/>
        </p:nvSpPr>
        <p:spPr>
          <a:xfrm>
            <a:off x="3383280" y="1965960"/>
            <a:ext cx="731520" cy="73152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live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Production API, fallback, logging, public demo</a:t>
            </a:r>
            <a:endParaRPr lang="en-US" sz="1400" dirty="0"/>
          </a:p>
        </p:txBody>
      </p:sp>
      <p:sp>
        <p:nvSpPr>
          <p:cNvPr id="12" name="M3 marker"/>
          <p:cNvSpPr/>
          <p:nvPr/>
        </p:nvSpPr>
        <p:spPr>
          <a:xfrm>
            <a:off x="5669280" y="1965960"/>
            <a:ext cx="731520" cy="73152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store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Real cost and stock imported, offline gate passed</a:t>
            </a:r>
            <a:endParaRPr lang="en-US" sz="1400" dirty="0"/>
          </a:p>
        </p:txBody>
      </p:sp>
      <p:sp>
        <p:nvSpPr>
          <p:cNvPr id="16" name="M4 marker"/>
          <p:cNvSpPr/>
          <p:nvPr/>
        </p:nvSpPr>
        <p:spPr>
          <a:xfrm>
            <a:off x="7955280" y="1965960"/>
            <a:ext cx="731520" cy="73152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result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2+ week A/B test on profit per visitor, written up win or lose</a:t>
            </a:r>
            <a:endParaRPr lang="en-US" sz="1400" dirty="0"/>
          </a:p>
        </p:txBody>
      </p:sp>
      <p:sp>
        <p:nvSpPr>
          <p:cNvPr id="20" name="M5 marker"/>
          <p:cNvSpPr/>
          <p:nvPr/>
        </p:nvSpPr>
        <p:spPr>
          <a:xfrm>
            <a:off x="10241280" y="1965960"/>
            <a:ext cx="731520" cy="731520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29260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stores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0" y="338328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Multi-store settings, first paid plan tested</a:t>
            </a:r>
            <a:endParaRPr lang="en-US" sz="1400" dirty="0"/>
          </a:p>
        </p:txBody>
      </p:sp>
      <p:sp>
        <p:nvSpPr>
          <p:cNvPr id="24" name="pilot rule card"/>
          <p:cNvSpPr/>
          <p:nvPr/>
        </p:nvSpPr>
        <p:spPr>
          <a:xfrm>
            <a:off x="548640" y="4800600"/>
            <a:ext cx="1106424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4937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Ship rule for a pilot: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roll out only if gross profit per visitor is higher with the 95% CI above zero, conversion is not clearly worse, and margin-floor breaks stay at 0.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real today, and what still needs a real store</a:t>
            </a:r>
            <a:endParaRPr lang="en-US" sz="3400" dirty="0"/>
          </a:p>
        </p:txBody>
      </p:sp>
      <p:sp>
        <p:nvSpPr>
          <p:cNvPr id="3" name="real card"/>
          <p:cNvSpPr/>
          <p:nvPr/>
        </p:nvSpPr>
        <p:spPr>
          <a:xfrm>
            <a:off x="548640" y="1508760"/>
            <a:ext cx="544068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4" name="measured icon circle"/>
          <p:cNvSpPr/>
          <p:nvPr/>
        </p:nvSpPr>
        <p:spPr>
          <a:xfrm>
            <a:off x="822960" y="17373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measured icon" descr="measure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973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real data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6060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Real baskets and real prices, 39,516 invoices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Relevance gain over standard methods (+4.5 pts Hit@10)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Optimizer is exact and fast (600/600, 3.4 ms)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Margin floor holds in every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LLM ranker NO-GO, with numbers</a:t>
            </a:r>
            <a:endParaRPr lang="en-US" sz="1500" dirty="0"/>
          </a:p>
        </p:txBody>
      </p:sp>
      <p:sp>
        <p:nvSpPr>
          <p:cNvPr id="8" name="assumed card"/>
          <p:cNvSpPr/>
          <p:nvPr/>
        </p:nvSpPr>
        <p:spPr>
          <a:xfrm>
            <a:off x="6172200" y="1508760"/>
            <a:ext cx="5440680" cy="3383280"/>
          </a:xfrm>
          <a:prstGeom prst="roundRect">
            <a:avLst>
              <a:gd name="adj" fmla="val 3243"/>
            </a:avLst>
          </a:prstGeom>
          <a:solidFill>
            <a:schemeClr val="bg2"/>
          </a:solidFill>
          <a:ln/>
        </p:spPr>
      </p:sp>
      <p:sp>
        <p:nvSpPr>
          <p:cNvPr id="9" name="assumption icon circle"/>
          <p:cNvSpPr/>
          <p:nvPr/>
        </p:nvSpPr>
        <p:spPr>
          <a:xfrm>
            <a:off x="6446520" y="173736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assumption icon" descr="assumptio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8973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18105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 or not yet tested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6060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Unit cost and stock are simulated, so the profit gain is not yet proven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Discount response (elasticity 1.5) is an assumption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Offline replay is not a live A/B test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UK gift store, one period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End-to-end API latency not benchmarked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chemeClr val="accent1"/>
                </a:solidFill>
              </a:rPr>
              <a:t>Relevance is proven offline. The profit gain becomes a real claim only after a pilot store shares unit cost and stock.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ask: two or three pilot stores</a:t>
            </a:r>
            <a:endParaRPr lang="en-US" sz="3400" dirty="0"/>
          </a:p>
        </p:txBody>
      </p:sp>
      <p:sp>
        <p:nvSpPr>
          <p:cNvPr id="3" name="ask card 1"/>
          <p:cNvSpPr/>
          <p:nvPr/>
        </p:nvSpPr>
        <p:spPr>
          <a:xfrm>
            <a:off x="548640" y="155448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C4A3C"/>
          </a:solidFill>
          <a:ln/>
        </p:spPr>
      </p:sp>
      <p:sp>
        <p:nvSpPr>
          <p:cNvPr id="4" name="Free pilot icon circle"/>
          <p:cNvSpPr/>
          <p:nvPr/>
        </p:nvSpPr>
        <p:spPr>
          <a:xfrm>
            <a:off x="868680" y="1783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Free pilot icon" descr="Free pilo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197739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pilot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MarginGraph at checkout, set up for you, at no cost during the pilot.</a:t>
            </a:r>
            <a:endParaRPr lang="en-US" sz="1500" dirty="0"/>
          </a:p>
        </p:txBody>
      </p:sp>
      <p:sp>
        <p:nvSpPr>
          <p:cNvPr id="8" name="ask card 2"/>
          <p:cNvSpPr/>
          <p:nvPr/>
        </p:nvSpPr>
        <p:spPr>
          <a:xfrm>
            <a:off x="4297680" y="155448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C4A3C"/>
          </a:solidFill>
          <a:ln/>
        </p:spPr>
      </p:sp>
      <p:sp>
        <p:nvSpPr>
          <p:cNvPr id="9" name="In return icon circle"/>
          <p:cNvSpPr/>
          <p:nvPr/>
        </p:nvSpPr>
        <p:spPr>
          <a:xfrm>
            <a:off x="4617720" y="1783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n return icon" descr="In retur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30" y="197739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return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7720" y="32004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Order history with unit cost and stock, so the profit result becomes real.</a:t>
            </a:r>
            <a:endParaRPr lang="en-US" sz="1500" dirty="0"/>
          </a:p>
        </p:txBody>
      </p:sp>
      <p:sp>
        <p:nvSpPr>
          <p:cNvPr id="13" name="ask card 3"/>
          <p:cNvSpPr/>
          <p:nvPr/>
        </p:nvSpPr>
        <p:spPr>
          <a:xfrm>
            <a:off x="8046720" y="1554480"/>
            <a:ext cx="3474720" cy="2834640"/>
          </a:xfrm>
          <a:prstGeom prst="roundRect">
            <a:avLst>
              <a:gd name="adj" fmla="val 3871"/>
            </a:avLst>
          </a:prstGeom>
          <a:solidFill>
            <a:srgbClr val="1C4A3C"/>
          </a:solidFill>
          <a:ln/>
        </p:spPr>
      </p:sp>
      <p:sp>
        <p:nvSpPr>
          <p:cNvPr id="14" name="Shared result icon circle"/>
          <p:cNvSpPr/>
          <p:nvPr/>
        </p:nvSpPr>
        <p:spPr>
          <a:xfrm>
            <a:off x="8366760" y="17830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Shared result icon" descr="Shared resul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1070" y="197739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7432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result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366760" y="32004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written A/B test case study, published whether it wins or loses.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6634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Good fit: a small online shop with a few thousand orders a year, a few hundred products, and access to unit cost. Gift, home decor, stationery, beauty, specialty food.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accent2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 and full results: github.com/Sanskar1724/MarginGraph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ginGraph">
  <a:themeElements>
    <a:clrScheme name="MarginGraph">
      <a:dk1>
        <a:srgbClr val="1A1F1C"/>
      </a:dk1>
      <a:lt1>
        <a:srgbClr val="FFFFFF"/>
      </a:lt1>
      <a:dk2>
        <a:srgbClr val="12352B"/>
      </a:dk2>
      <a:lt2>
        <a:srgbClr val="EEF4F0"/>
      </a:lt2>
      <a:accent1>
        <a:srgbClr val="1F6F54"/>
      </a:accent1>
      <a:accent2>
        <a:srgbClr val="E9A23B"/>
      </a:accent2>
      <a:accent3>
        <a:srgbClr val="7FB89E"/>
      </a:accent3>
      <a:accent4>
        <a:srgbClr val="C8553D"/>
      </a:accent4>
      <a:accent5>
        <a:srgbClr val="5B6B65"/>
      </a:accent5>
      <a:accent6>
        <a:srgbClr val="A9C7B8"/>
      </a:accent6>
      <a:hlink>
        <a:srgbClr val="1F6F54"/>
      </a:hlink>
      <a:folHlink>
        <a:srgbClr val="5B6B65"/>
      </a:folHlink>
    </a:clrScheme>
    <a:fontScheme name="MarginGrap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MarginGraph: checkout add-ons that sell and protect margin</dc:title>
  <dc:subject>PptxGenJS Presentation</dc:subject>
  <dc:creator>San (MarginGraph)</dc:creator>
  <cp:lastModifiedBy>San (MarginGraph)</cp:lastModifiedBy>
  <cp:revision>1</cp:revision>
  <dcterms:created xsi:type="dcterms:W3CDTF">2026-10-26T11:54:40Z</dcterms:created>
  <dcterms:modified xsi:type="dcterms:W3CDTF">2026-10-26T11:54:40Z</dcterms:modified>
</cp:coreProperties>
</file>